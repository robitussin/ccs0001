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7" r:id="rId2"/>
    <p:sldId id="258" r:id="rId3"/>
    <p:sldId id="271" r:id="rId4"/>
    <p:sldId id="260" r:id="rId5"/>
    <p:sldId id="261" r:id="rId6"/>
    <p:sldId id="262" r:id="rId7"/>
    <p:sldId id="264" r:id="rId8"/>
    <p:sldId id="265" r:id="rId9"/>
    <p:sldId id="273" r:id="rId10"/>
    <p:sldId id="272" r:id="rId11"/>
    <p:sldId id="270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3" r:id="rId20"/>
    <p:sldId id="282" r:id="rId21"/>
    <p:sldId id="295" r:id="rId22"/>
    <p:sldId id="296" r:id="rId23"/>
    <p:sldId id="284" r:id="rId24"/>
    <p:sldId id="286" r:id="rId25"/>
    <p:sldId id="287" r:id="rId26"/>
    <p:sldId id="288" r:id="rId27"/>
    <p:sldId id="291" r:id="rId28"/>
    <p:sldId id="289" r:id="rId29"/>
    <p:sldId id="290" r:id="rId30"/>
    <p:sldId id="292" r:id="rId31"/>
    <p:sldId id="293" r:id="rId32"/>
    <p:sldId id="294" r:id="rId33"/>
    <p:sldId id="268" r:id="rId34"/>
    <p:sldId id="269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326" autoAdjust="0"/>
    <p:restoredTop sz="93605" autoAdjust="0"/>
  </p:normalViewPr>
  <p:slideViewPr>
    <p:cSldViewPr snapToGrid="0">
      <p:cViewPr varScale="1">
        <p:scale>
          <a:sx n="149" d="100"/>
          <a:sy n="149" d="100"/>
        </p:scale>
        <p:origin x="14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68162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40912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928310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530446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b="0" i="0" u="none" strike="noStrike" dirty="0">
                <a:solidFill>
                  <a:srgbClr val="333333"/>
                </a:solidFill>
                <a:effectLst/>
                <a:latin typeface="Metropolis"/>
              </a:rPr>
              <a:t>This conversation sets you up to make another important point, that different systems are created for different contexts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1405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58583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38680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778996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59881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06499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598874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993128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598771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076954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408909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461052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787928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824947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371254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05022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F4BAE-67B6-AA4D-F998-5AA199305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F49A10-CED0-22E1-AC0D-FAABCD1E9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FBFA4E-5D26-2776-3B83-4AFE55267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F3A6A-38C6-EF1C-20F7-A86C2A8429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143922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6B9D8-92E3-D883-795F-5070EFCBF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22724-8DE3-86D6-D0F8-0441E2D123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D8C2D-2B09-BB01-5B0A-02596EA5FE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D51EA-0543-BE95-547E-9B74D99096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217442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932415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671094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525929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296515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032931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502011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3696228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923742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8522613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390937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820106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77038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99000"/>
            <a:lum/>
          </a:blip>
          <a:srcRect/>
          <a:stretch>
            <a:fillRect t="89000" r="85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25/09/2026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gif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PH" b="1" dirty="0"/>
              <a:t>The Number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232827-4F60-4C85-BA9F-CAC18540AC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l"/>
            <a:endParaRPr lang="en-PH" sz="2000" dirty="0"/>
          </a:p>
          <a:p>
            <a:pPr algn="l"/>
            <a:r>
              <a:rPr lang="en-PH" sz="2000" dirty="0"/>
              <a:t>Presented By:</a:t>
            </a:r>
          </a:p>
          <a:p>
            <a:pPr algn="l"/>
            <a:r>
              <a:rPr lang="en-PH" sz="2000" dirty="0" err="1"/>
              <a:t>Elizer</a:t>
            </a:r>
            <a:r>
              <a:rPr lang="en-PH" sz="2000" dirty="0"/>
              <a:t> Ponio Jr.</a:t>
            </a:r>
            <a:br>
              <a:rPr lang="en-PH" sz="2000" dirty="0"/>
            </a:br>
            <a:br>
              <a:rPr lang="en-PH" sz="2000" dirty="0"/>
            </a:br>
            <a:r>
              <a:rPr lang="en-PH" sz="2000" dirty="0"/>
              <a:t>Department of Computer Science</a:t>
            </a:r>
          </a:p>
          <a:p>
            <a:pPr algn="l"/>
            <a:endParaRPr lang="en-PH" sz="2000" dirty="0"/>
          </a:p>
        </p:txBody>
      </p:sp>
    </p:spTree>
    <p:extLst>
      <p:ext uri="{BB962C8B-B14F-4D97-AF65-F5344CB8AC3E}">
        <p14:creationId xmlns:p14="http://schemas.microsoft.com/office/powerpoint/2010/main" val="4005017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262325-57BF-43A0-F2C4-7EF0AB41E3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pPr algn="l"/>
            <a:r>
              <a:rPr lang="en-GB" sz="5400" b="1" dirty="0">
                <a:latin typeface="Calibri Light (Headings)"/>
              </a:rPr>
              <a:t>Outline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F5E599-1EC1-9071-8747-7DC88BFC6E27}"/>
              </a:ext>
            </a:extLst>
          </p:cNvPr>
          <p:cNvSpPr txBox="1">
            <a:spLocks/>
          </p:cNvSpPr>
          <p:nvPr/>
        </p:nvSpPr>
        <p:spPr>
          <a:xfrm>
            <a:off x="459205" y="1095279"/>
            <a:ext cx="11273589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800" i="0" dirty="0">
              <a:solidFill>
                <a:srgbClr val="252C33"/>
              </a:solidFill>
              <a:effectLst/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2800" b="1" i="0" dirty="0">
                <a:effectLst/>
                <a:latin typeface="Calibri Light (Headings)"/>
              </a:rPr>
              <a:t>Representing Information 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0" i="0" dirty="0">
              <a:solidFill>
                <a:schemeClr val="bg2">
                  <a:lumMod val="75000"/>
                </a:schemeClr>
              </a:solidFill>
              <a:effectLst/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2800" b="1" i="0">
                <a:solidFill>
                  <a:schemeClr val="bg2">
                    <a:lumMod val="75000"/>
                  </a:schemeClr>
                </a:solidFill>
                <a:effectLst/>
                <a:latin typeface="Calibri Light (Headings)"/>
              </a:rPr>
              <a:t>Binary </a:t>
            </a:r>
            <a:r>
              <a:rPr lang="en-US" sz="2800" b="1" i="0" dirty="0">
                <a:solidFill>
                  <a:schemeClr val="bg2">
                    <a:lumMod val="75000"/>
                  </a:schemeClr>
                </a:solidFill>
                <a:effectLst/>
                <a:latin typeface="Calibri Light (Headings)"/>
              </a:rPr>
              <a:t>Representation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1" dirty="0">
              <a:solidFill>
                <a:schemeClr val="bg2">
                  <a:lumMod val="75000"/>
                </a:schemeClr>
              </a:solidFill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2800" b="1" i="0" dirty="0">
                <a:solidFill>
                  <a:schemeClr val="bg2">
                    <a:lumMod val="75000"/>
                  </a:schemeClr>
                </a:solidFill>
                <a:effectLst/>
                <a:latin typeface="Calibri Light (Headings)"/>
              </a:rPr>
              <a:t>Text, Images and Sound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1" i="0" dirty="0">
              <a:solidFill>
                <a:schemeClr val="bg2">
                  <a:lumMod val="75000"/>
                </a:schemeClr>
              </a:solidFill>
              <a:effectLst/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0" i="0" dirty="0">
              <a:solidFill>
                <a:schemeClr val="bg2">
                  <a:lumMod val="75000"/>
                </a:schemeClr>
              </a:solidFill>
              <a:effectLst/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</p:txBody>
      </p:sp>
    </p:spTree>
    <p:extLst>
      <p:ext uri="{BB962C8B-B14F-4D97-AF65-F5344CB8AC3E}">
        <p14:creationId xmlns:p14="http://schemas.microsoft.com/office/powerpoint/2010/main" val="538936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E290E7FE-5B97-1120-D5B2-956302F69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711" y="1285020"/>
            <a:ext cx="5270205" cy="4424663"/>
          </a:xfrm>
        </p:spPr>
        <p:txBody>
          <a:bodyPr>
            <a:noAutofit/>
          </a:bodyPr>
          <a:lstStyle/>
          <a:p>
            <a:pPr algn="l"/>
            <a:r>
              <a:rPr lang="en-PH" sz="2600" dirty="0"/>
              <a:t>Imagine your friend asked if you could hang out later.</a:t>
            </a:r>
          </a:p>
          <a:p>
            <a:pPr algn="l"/>
            <a:endParaRPr lang="en-PH" sz="2600" dirty="0"/>
          </a:p>
          <a:p>
            <a:pPr algn="l"/>
            <a:r>
              <a:rPr lang="en-PH" sz="2600" dirty="0"/>
              <a:t> This is a </a:t>
            </a:r>
            <a:r>
              <a:rPr lang="en-PH" sz="2600" b="1" dirty="0"/>
              <a:t>yes-no question</a:t>
            </a:r>
            <a:r>
              <a:rPr lang="en-PH" sz="2600" dirty="0"/>
              <a:t> and so one way you could respond is by saying "</a:t>
            </a:r>
            <a:r>
              <a:rPr lang="en-PH" sz="2600" b="1" dirty="0">
                <a:solidFill>
                  <a:srgbClr val="00B050"/>
                </a:solidFill>
              </a:rPr>
              <a:t>Yes</a:t>
            </a:r>
            <a:r>
              <a:rPr lang="en-PH" sz="2600" dirty="0"/>
              <a:t>" or "</a:t>
            </a:r>
            <a:r>
              <a:rPr lang="en-PH" sz="2600" b="1" dirty="0">
                <a:solidFill>
                  <a:srgbClr val="FF0000"/>
                </a:solidFill>
              </a:rPr>
              <a:t>No</a:t>
            </a:r>
            <a:r>
              <a:rPr lang="en-PH" sz="2600" dirty="0"/>
              <a:t>". </a:t>
            </a:r>
          </a:p>
          <a:p>
            <a:pPr algn="l"/>
            <a:endParaRPr lang="en-PH" sz="2600" dirty="0"/>
          </a:p>
          <a:p>
            <a:pPr algn="l"/>
            <a:r>
              <a:rPr lang="en-PH" sz="2600" dirty="0"/>
              <a:t>This is one possible pair of responses you could use so your friend can understand, but there are many more possible pairs.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D262325-57BF-43A0-F2C4-7EF0AB41E3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9302"/>
            <a:ext cx="9144000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Representing Information</a:t>
            </a:r>
            <a:endParaRPr lang="en-PH" sz="5000" b="1" dirty="0">
              <a:latin typeface="Calibri Light (Headings)"/>
            </a:endParaRPr>
          </a:p>
        </p:txBody>
      </p:sp>
      <p:pic>
        <p:nvPicPr>
          <p:cNvPr id="9" name="Picture 8" descr="A group of people taking a selfie&#10;&#10;Description automatically generated">
            <a:extLst>
              <a:ext uri="{FF2B5EF4-FFF2-40B4-BE49-F238E27FC236}">
                <a16:creationId xmlns:a16="http://schemas.microsoft.com/office/drawing/2014/main" id="{877FDAD4-A0E1-77AE-86AB-A07876D1EF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083" y="1285020"/>
            <a:ext cx="4532886" cy="302192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623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E290E7FE-5B97-1120-D5B2-956302F69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7" y="1168808"/>
            <a:ext cx="10249786" cy="4520383"/>
          </a:xfrm>
        </p:spPr>
        <p:txBody>
          <a:bodyPr>
            <a:noAutofit/>
          </a:bodyPr>
          <a:lstStyle/>
          <a:p>
            <a:endParaRPr lang="en-PH" sz="3600" dirty="0"/>
          </a:p>
          <a:p>
            <a:endParaRPr lang="en-PH" sz="3600" dirty="0"/>
          </a:p>
          <a:p>
            <a:r>
              <a:rPr lang="en-PH" sz="3600" dirty="0"/>
              <a:t>List as many different ways that you could write, say, or represent the answer to a "</a:t>
            </a:r>
            <a:r>
              <a:rPr lang="en-PH" sz="3600" b="1" dirty="0">
                <a:solidFill>
                  <a:srgbClr val="00B050"/>
                </a:solidFill>
              </a:rPr>
              <a:t>Yes</a:t>
            </a:r>
            <a:r>
              <a:rPr lang="en-PH" sz="3600" b="1" dirty="0"/>
              <a:t>-</a:t>
            </a:r>
            <a:r>
              <a:rPr lang="en-PH" sz="3600" b="1" dirty="0">
                <a:solidFill>
                  <a:srgbClr val="FF0000"/>
                </a:solidFill>
              </a:rPr>
              <a:t>No</a:t>
            </a:r>
            <a:r>
              <a:rPr lang="en-PH" sz="3600" dirty="0"/>
              <a:t>" question.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>
                <a:latin typeface="Calibri Light (Headings)"/>
              </a:rPr>
              <a:t>Representing Information</a:t>
            </a:r>
            <a:endParaRPr lang="en-PH" sz="5000" b="1" dirty="0">
              <a:latin typeface="Calibri Light (Headings)"/>
            </a:endParaRPr>
          </a:p>
        </p:txBody>
      </p:sp>
    </p:spTree>
    <p:extLst>
      <p:ext uri="{BB962C8B-B14F-4D97-AF65-F5344CB8AC3E}">
        <p14:creationId xmlns:p14="http://schemas.microsoft.com/office/powerpoint/2010/main" val="3800513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white board with black writing&#10;&#10;Description automatically generated">
            <a:extLst>
              <a:ext uri="{FF2B5EF4-FFF2-40B4-BE49-F238E27FC236}">
                <a16:creationId xmlns:a16="http://schemas.microsoft.com/office/drawing/2014/main" id="{1F3E057B-8601-7917-440F-1316B6B5F9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204" y="363688"/>
            <a:ext cx="5377592" cy="413087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63A64B-61D2-F63A-0322-60024CF0DF8F}"/>
              </a:ext>
            </a:extLst>
          </p:cNvPr>
          <p:cNvSpPr txBox="1"/>
          <p:nvPr/>
        </p:nvSpPr>
        <p:spPr>
          <a:xfrm>
            <a:off x="897465" y="4880801"/>
            <a:ext cx="103970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400" dirty="0"/>
              <a:t>Each row in our table is a different "</a:t>
            </a:r>
            <a:r>
              <a:rPr lang="en-PH" sz="2400" b="1" dirty="0">
                <a:solidFill>
                  <a:srgbClr val="7030A0"/>
                </a:solidFill>
              </a:rPr>
              <a:t>system</a:t>
            </a:r>
            <a:r>
              <a:rPr lang="en-PH" sz="2400" dirty="0"/>
              <a:t>" but they all represent the same information. </a:t>
            </a:r>
            <a:r>
              <a:rPr lang="en-PH" sz="2400" b="1" dirty="0">
                <a:solidFill>
                  <a:srgbClr val="0070C0"/>
                </a:solidFill>
              </a:rPr>
              <a:t>Why do you think we have so many different systems to represent the same information?</a:t>
            </a:r>
            <a:endParaRPr lang="en-US" sz="2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5681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E290E7FE-5B97-1120-D5B2-956302F69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7" y="1598723"/>
            <a:ext cx="10249786" cy="855727"/>
          </a:xfrm>
        </p:spPr>
        <p:txBody>
          <a:bodyPr>
            <a:noAutofit/>
          </a:bodyPr>
          <a:lstStyle/>
          <a:p>
            <a:r>
              <a:rPr lang="en-PH" sz="3000" dirty="0"/>
              <a:t>What we're seeing here is that there are many </a:t>
            </a:r>
            <a:r>
              <a:rPr lang="en-PH" sz="3000" b="1" dirty="0">
                <a:solidFill>
                  <a:srgbClr val="00B0F0"/>
                </a:solidFill>
              </a:rPr>
              <a:t>"systems"</a:t>
            </a:r>
            <a:r>
              <a:rPr lang="en-PH" sz="3000" dirty="0">
                <a:solidFill>
                  <a:srgbClr val="00B0F0"/>
                </a:solidFill>
              </a:rPr>
              <a:t> </a:t>
            </a:r>
            <a:r>
              <a:rPr lang="en-PH" sz="3000" dirty="0"/>
              <a:t>that we could choose to use to represent the same information.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>
                <a:latin typeface="Calibri Light (Headings)"/>
              </a:rPr>
              <a:t>Representing Information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41DC42-8A0E-592B-EFAA-1537C10727B1}"/>
              </a:ext>
            </a:extLst>
          </p:cNvPr>
          <p:cNvSpPr txBox="1"/>
          <p:nvPr/>
        </p:nvSpPr>
        <p:spPr>
          <a:xfrm>
            <a:off x="1524000" y="3190371"/>
            <a:ext cx="9144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dirty="0"/>
              <a:t>The information of a </a:t>
            </a:r>
            <a:r>
              <a:rPr lang="en-PH" sz="3000" b="1" dirty="0">
                <a:solidFill>
                  <a:srgbClr val="00B050"/>
                </a:solidFill>
              </a:rPr>
              <a:t>"Yes" </a:t>
            </a:r>
            <a:r>
              <a:rPr lang="en-PH" sz="3000" dirty="0"/>
              <a:t>could be a </a:t>
            </a:r>
            <a:r>
              <a:rPr lang="en-PH" sz="3000" b="1" dirty="0">
                <a:solidFill>
                  <a:srgbClr val="00B050"/>
                </a:solidFill>
              </a:rPr>
              <a:t>head nod </a:t>
            </a:r>
            <a:r>
              <a:rPr lang="en-PH" sz="3000" dirty="0"/>
              <a:t>or a </a:t>
            </a:r>
            <a:r>
              <a:rPr lang="en-PH" sz="3000" b="1" dirty="0">
                <a:solidFill>
                  <a:srgbClr val="00B050"/>
                </a:solidFill>
              </a:rPr>
              <a:t>thumbs up</a:t>
            </a:r>
            <a:r>
              <a:rPr lang="en-PH" sz="3000" dirty="0"/>
              <a:t>, and a </a:t>
            </a:r>
            <a:r>
              <a:rPr lang="en-PH" sz="3000" b="1" dirty="0">
                <a:solidFill>
                  <a:srgbClr val="FF0000"/>
                </a:solidFill>
              </a:rPr>
              <a:t>"No" </a:t>
            </a:r>
            <a:r>
              <a:rPr lang="en-PH" sz="3000" dirty="0"/>
              <a:t>might be a </a:t>
            </a:r>
            <a:r>
              <a:rPr lang="en-PH" sz="3000" b="1" dirty="0">
                <a:solidFill>
                  <a:srgbClr val="FF0000"/>
                </a:solidFill>
              </a:rPr>
              <a:t>minus sign </a:t>
            </a:r>
            <a:r>
              <a:rPr lang="en-PH" sz="3000" dirty="0"/>
              <a:t>or a </a:t>
            </a:r>
            <a:r>
              <a:rPr lang="en-PH" sz="3000" b="1" dirty="0">
                <a:solidFill>
                  <a:srgbClr val="FF0000"/>
                </a:solidFill>
              </a:rPr>
              <a:t>down arrow. </a:t>
            </a:r>
          </a:p>
        </p:txBody>
      </p:sp>
    </p:spTree>
    <p:extLst>
      <p:ext uri="{BB962C8B-B14F-4D97-AF65-F5344CB8AC3E}">
        <p14:creationId xmlns:p14="http://schemas.microsoft.com/office/powerpoint/2010/main" val="2345548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E290E7FE-5B97-1120-D5B2-956302F69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009" y="1257778"/>
            <a:ext cx="5568507" cy="1804399"/>
          </a:xfrm>
        </p:spPr>
        <p:txBody>
          <a:bodyPr>
            <a:noAutofit/>
          </a:bodyPr>
          <a:lstStyle/>
          <a:p>
            <a:pPr algn="l"/>
            <a:r>
              <a:rPr lang="en-PH" sz="3000" dirty="0"/>
              <a:t>As humans we have created a lot of systems because they are better or worse depending on the situation.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>
                <a:latin typeface="Calibri Light (Headings)"/>
              </a:rPr>
              <a:t>Representing Information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9DE915-5049-853D-ABED-5F56A7A428E9}"/>
              </a:ext>
            </a:extLst>
          </p:cNvPr>
          <p:cNvSpPr txBox="1"/>
          <p:nvPr/>
        </p:nvSpPr>
        <p:spPr>
          <a:xfrm>
            <a:off x="609009" y="3429000"/>
            <a:ext cx="5834321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000" dirty="0"/>
              <a:t>People speak many </a:t>
            </a:r>
            <a:r>
              <a:rPr lang="en-PH" sz="3000" b="1" dirty="0">
                <a:solidFill>
                  <a:srgbClr val="00B0F0"/>
                </a:solidFill>
              </a:rPr>
              <a:t>different languages</a:t>
            </a:r>
            <a:r>
              <a:rPr lang="en-PH" sz="3000" dirty="0"/>
              <a:t>. We have made a lot of systems because we want to communicate information in different situations.</a:t>
            </a:r>
          </a:p>
        </p:txBody>
      </p:sp>
      <p:pic>
        <p:nvPicPr>
          <p:cNvPr id="9" name="Picture 8" descr="A green text with a white background&#10;&#10;Description automatically generated">
            <a:extLst>
              <a:ext uri="{FF2B5EF4-FFF2-40B4-BE49-F238E27FC236}">
                <a16:creationId xmlns:a16="http://schemas.microsoft.com/office/drawing/2014/main" id="{5EEC2C58-8724-6A0E-C566-FE6BBF84DB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675" y="1363245"/>
            <a:ext cx="4008474" cy="4008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304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>
                <a:latin typeface="Calibri Light (Headings)"/>
              </a:rPr>
              <a:t>Representing Information</a:t>
            </a:r>
            <a:endParaRPr lang="en-PH" sz="5000" b="1" dirty="0">
              <a:latin typeface="Calibri Light (Headings)"/>
            </a:endParaRPr>
          </a:p>
        </p:txBody>
      </p:sp>
      <p:pic>
        <p:nvPicPr>
          <p:cNvPr id="5" name="Picture 4" descr="A person sitting at a desk looking at a computer screen&#10;&#10;Description automatically generated">
            <a:extLst>
              <a:ext uri="{FF2B5EF4-FFF2-40B4-BE49-F238E27FC236}">
                <a16:creationId xmlns:a16="http://schemas.microsoft.com/office/drawing/2014/main" id="{5BA7C19A-3103-0C0F-1144-6539F10548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3737" y="1204517"/>
            <a:ext cx="4224523" cy="23816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C70235E-79F7-DE04-5E7D-9A6C00C1C8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06683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E290E7FE-5B97-1120-D5B2-956302F69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6" y="4117656"/>
            <a:ext cx="10249786" cy="1288137"/>
          </a:xfrm>
        </p:spPr>
        <p:txBody>
          <a:bodyPr>
            <a:noAutofit/>
          </a:bodyPr>
          <a:lstStyle/>
          <a:p>
            <a:r>
              <a:rPr lang="en-PH" sz="3000" dirty="0"/>
              <a:t>Computers need </a:t>
            </a:r>
            <a:r>
              <a:rPr lang="en-PH" sz="3000" b="1" dirty="0">
                <a:solidFill>
                  <a:srgbClr val="0070C0"/>
                </a:solidFill>
              </a:rPr>
              <a:t>systems</a:t>
            </a:r>
            <a:r>
              <a:rPr lang="en-PH" sz="3000" dirty="0"/>
              <a:t> to represent information too, and today we're going to start exploring what kinds of systems a computer would need to represent information.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>
                <a:latin typeface="Calibri Light (Headings)"/>
              </a:rPr>
              <a:t>Representing Information</a:t>
            </a:r>
            <a:endParaRPr lang="en-PH" sz="5000" b="1" dirty="0">
              <a:latin typeface="Calibri Light (Headings)"/>
            </a:endParaRPr>
          </a:p>
        </p:txBody>
      </p:sp>
      <p:pic>
        <p:nvPicPr>
          <p:cNvPr id="5" name="Picture 4" descr="A person sitting at a desk looking at a computer screen&#10;&#10;Description automatically generated">
            <a:extLst>
              <a:ext uri="{FF2B5EF4-FFF2-40B4-BE49-F238E27FC236}">
                <a16:creationId xmlns:a16="http://schemas.microsoft.com/office/drawing/2014/main" id="{5BA7C19A-3103-0C0F-1144-6539F10548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3738" y="1310793"/>
            <a:ext cx="4224523" cy="23816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73569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262325-57BF-43A0-F2C4-7EF0AB41E3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pPr algn="l"/>
            <a:r>
              <a:rPr lang="en-GB" sz="5400" b="1" dirty="0">
                <a:latin typeface="Calibri Light (Headings)"/>
              </a:rPr>
              <a:t>Outline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F5E599-1EC1-9071-8747-7DC88BFC6E27}"/>
              </a:ext>
            </a:extLst>
          </p:cNvPr>
          <p:cNvSpPr txBox="1">
            <a:spLocks/>
          </p:cNvSpPr>
          <p:nvPr/>
        </p:nvSpPr>
        <p:spPr>
          <a:xfrm>
            <a:off x="459205" y="1095279"/>
            <a:ext cx="11273589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800" i="0" dirty="0">
              <a:solidFill>
                <a:srgbClr val="252C33"/>
              </a:solidFill>
              <a:effectLst/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2800" b="1" i="0" dirty="0">
                <a:solidFill>
                  <a:schemeClr val="bg2">
                    <a:lumMod val="75000"/>
                  </a:schemeClr>
                </a:solidFill>
                <a:effectLst/>
                <a:latin typeface="Calibri Light (Headings)"/>
              </a:rPr>
              <a:t>Representing Information 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0" i="0" dirty="0">
              <a:solidFill>
                <a:srgbClr val="636C8B"/>
              </a:solidFill>
              <a:effectLst/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2800" b="1" i="0" dirty="0">
                <a:effectLst/>
                <a:latin typeface="Calibri Light (Headings)"/>
              </a:rPr>
              <a:t>Binary Representation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1" dirty="0">
              <a:solidFill>
                <a:schemeClr val="bg2">
                  <a:lumMod val="75000"/>
                </a:schemeClr>
              </a:solidFill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2800" b="1" i="0" dirty="0">
                <a:solidFill>
                  <a:schemeClr val="bg2">
                    <a:lumMod val="75000"/>
                  </a:schemeClr>
                </a:solidFill>
                <a:effectLst/>
                <a:latin typeface="Calibri Light (Headings)"/>
              </a:rPr>
              <a:t>Text, Images and Sound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0" i="0" dirty="0">
              <a:solidFill>
                <a:schemeClr val="bg2">
                  <a:lumMod val="75000"/>
                </a:schemeClr>
              </a:solidFill>
              <a:effectLst/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</p:txBody>
      </p:sp>
      <p:pic>
        <p:nvPicPr>
          <p:cNvPr id="8" name="Graphic 7" descr="Checkmark with solid fill">
            <a:extLst>
              <a:ext uri="{FF2B5EF4-FFF2-40B4-BE49-F238E27FC236}">
                <a16:creationId xmlns:a16="http://schemas.microsoft.com/office/drawing/2014/main" id="{B9390032-1C19-1D8F-325B-60F1EC6C7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89599" y="1095279"/>
            <a:ext cx="597907" cy="59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417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E290E7FE-5B97-1120-D5B2-956302F69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0679" y="1348295"/>
            <a:ext cx="6081627" cy="4487980"/>
          </a:xfrm>
        </p:spPr>
        <p:txBody>
          <a:bodyPr>
            <a:noAutofit/>
          </a:bodyPr>
          <a:lstStyle/>
          <a:p>
            <a:pPr algn="l"/>
            <a:r>
              <a:rPr lang="en-PH" sz="2600" dirty="0"/>
              <a:t>Modern computers are electronic devices filled with a lot of </a:t>
            </a:r>
            <a:r>
              <a:rPr lang="en-PH" sz="2600" b="1" dirty="0">
                <a:solidFill>
                  <a:srgbClr val="0070C0"/>
                </a:solidFill>
              </a:rPr>
              <a:t>tiny wires </a:t>
            </a:r>
            <a:r>
              <a:rPr lang="en-PH" sz="2600" dirty="0"/>
              <a:t>and</a:t>
            </a:r>
            <a:r>
              <a:rPr lang="en-PH" sz="2600" b="1" dirty="0">
                <a:solidFill>
                  <a:srgbClr val="0070C0"/>
                </a:solidFill>
              </a:rPr>
              <a:t> circuits</a:t>
            </a:r>
            <a:r>
              <a:rPr lang="en-PH" sz="2600" dirty="0"/>
              <a:t>. </a:t>
            </a:r>
          </a:p>
          <a:p>
            <a:pPr algn="l"/>
            <a:endParaRPr lang="en-PH" sz="2600" dirty="0"/>
          </a:p>
          <a:p>
            <a:pPr algn="l"/>
            <a:r>
              <a:rPr lang="en-PH" sz="2600" dirty="0"/>
              <a:t>These wires and circuits carry </a:t>
            </a:r>
            <a:r>
              <a:rPr lang="en-PH" sz="2600" b="1" dirty="0">
                <a:solidFill>
                  <a:srgbClr val="0070C0"/>
                </a:solidFill>
              </a:rPr>
              <a:t>electricity</a:t>
            </a:r>
            <a:r>
              <a:rPr lang="en-PH" sz="2600" dirty="0"/>
              <a:t> and at any moment they can be </a:t>
            </a:r>
            <a:r>
              <a:rPr lang="en-PH" sz="2600" b="1" dirty="0">
                <a:solidFill>
                  <a:srgbClr val="00B050"/>
                </a:solidFill>
              </a:rPr>
              <a:t>ON</a:t>
            </a:r>
            <a:r>
              <a:rPr lang="en-PH" sz="2600" dirty="0"/>
              <a:t> or </a:t>
            </a:r>
            <a:r>
              <a:rPr lang="en-PH" sz="2600" b="1" dirty="0">
                <a:solidFill>
                  <a:srgbClr val="FF0000"/>
                </a:solidFill>
              </a:rPr>
              <a:t>OFF</a:t>
            </a:r>
            <a:r>
              <a:rPr lang="en-PH" sz="2600" dirty="0"/>
              <a:t>. </a:t>
            </a:r>
          </a:p>
          <a:p>
            <a:pPr algn="l"/>
            <a:endParaRPr lang="en-PH" sz="2600" dirty="0"/>
          </a:p>
          <a:p>
            <a:pPr algn="l"/>
            <a:r>
              <a:rPr lang="en-PH" sz="2600" dirty="0"/>
              <a:t>All the information we use on a computer like documents, videos, and pictures, eventually need to be translated down into these </a:t>
            </a:r>
            <a:r>
              <a:rPr lang="en-PH" sz="2600" b="1" dirty="0">
                <a:solidFill>
                  <a:srgbClr val="00B050"/>
                </a:solidFill>
              </a:rPr>
              <a:t>ON</a:t>
            </a:r>
            <a:r>
              <a:rPr lang="en-PH" sz="2600" dirty="0"/>
              <a:t> and </a:t>
            </a:r>
            <a:r>
              <a:rPr lang="en-PH" sz="2600" b="1" dirty="0">
                <a:solidFill>
                  <a:srgbClr val="FF0000"/>
                </a:solidFill>
              </a:rPr>
              <a:t>OFF</a:t>
            </a:r>
            <a:r>
              <a:rPr lang="en-PH" sz="2600" dirty="0"/>
              <a:t> signals.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Representation</a:t>
            </a:r>
            <a:endParaRPr lang="en-PH" sz="5000" b="1" dirty="0">
              <a:latin typeface="Calibri Light (Headings)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E6E376-2AF2-DABD-23D1-CCB4CB2368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556" y="1434356"/>
            <a:ext cx="3882703" cy="290426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2798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Representation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Subtitle 5">
            <a:extLst>
              <a:ext uri="{FF2B5EF4-FFF2-40B4-BE49-F238E27FC236}">
                <a16:creationId xmlns:a16="http://schemas.microsoft.com/office/drawing/2014/main" id="{B68666FB-49BF-C253-89AA-DF1E06AF2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7" y="1758211"/>
            <a:ext cx="10249786" cy="1383710"/>
          </a:xfrm>
        </p:spPr>
        <p:txBody>
          <a:bodyPr>
            <a:noAutofit/>
          </a:bodyPr>
          <a:lstStyle/>
          <a:p>
            <a:r>
              <a:rPr lang="en-PH" sz="4000" dirty="0"/>
              <a:t>How do you represent information using </a:t>
            </a:r>
            <a:r>
              <a:rPr lang="en-PH" sz="4000" b="1" dirty="0"/>
              <a:t>electricity</a:t>
            </a:r>
            <a:r>
              <a:rPr lang="en-PH" sz="4000" dirty="0"/>
              <a:t>?</a:t>
            </a:r>
          </a:p>
        </p:txBody>
      </p:sp>
      <p:pic>
        <p:nvPicPr>
          <p:cNvPr id="9" name="Picture 8" descr="A yellow lightning bolt on a black background&#10;&#10;Description automatically generated">
            <a:extLst>
              <a:ext uri="{FF2B5EF4-FFF2-40B4-BE49-F238E27FC236}">
                <a16:creationId xmlns:a16="http://schemas.microsoft.com/office/drawing/2014/main" id="{2C29F144-1F79-9B4E-AF8C-A80950236A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3349" y="3353169"/>
            <a:ext cx="2665302" cy="2665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629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Representation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7254069-E205-B31F-0548-0083B4E5B6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7" y="1326411"/>
            <a:ext cx="10249786" cy="855727"/>
          </a:xfrm>
        </p:spPr>
        <p:txBody>
          <a:bodyPr>
            <a:noAutofit/>
          </a:bodyPr>
          <a:lstStyle/>
          <a:p>
            <a:pPr algn="l"/>
            <a:r>
              <a:rPr lang="en-PH" sz="3000" dirty="0"/>
              <a:t>A </a:t>
            </a:r>
            <a:r>
              <a:rPr lang="en-PH" sz="3000" b="1" dirty="0">
                <a:solidFill>
                  <a:srgbClr val="00B050"/>
                </a:solidFill>
              </a:rPr>
              <a:t>binary system </a:t>
            </a:r>
            <a:r>
              <a:rPr lang="en-PH" sz="3000" dirty="0"/>
              <a:t>is a representation of information using only two options,</a:t>
            </a:r>
          </a:p>
        </p:txBody>
      </p:sp>
      <p:pic>
        <p:nvPicPr>
          <p:cNvPr id="12" name="Picture 11" descr="A black number on a white background&#10;&#10;Description automatically generated">
            <a:extLst>
              <a:ext uri="{FF2B5EF4-FFF2-40B4-BE49-F238E27FC236}">
                <a16:creationId xmlns:a16="http://schemas.microsoft.com/office/drawing/2014/main" id="{8E3BB007-5DB7-9717-6874-4951E1B18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1907" y="2810369"/>
            <a:ext cx="2120654" cy="2423605"/>
          </a:xfrm>
          <a:prstGeom prst="rect">
            <a:avLst/>
          </a:prstGeom>
        </p:spPr>
      </p:pic>
      <p:pic>
        <p:nvPicPr>
          <p:cNvPr id="14" name="Picture 13" descr="A black number one on a white background&#10;&#10;Description automatically generated">
            <a:extLst>
              <a:ext uri="{FF2B5EF4-FFF2-40B4-BE49-F238E27FC236}">
                <a16:creationId xmlns:a16="http://schemas.microsoft.com/office/drawing/2014/main" id="{91C97FD2-D6B9-6341-B82A-14BE61A1D6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6207" y="2812571"/>
            <a:ext cx="1853888" cy="2421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123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Representation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CF6309F-68DD-66AC-631C-B7AF47CC2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770421"/>
              </p:ext>
            </p:extLst>
          </p:nvPr>
        </p:nvGraphicFramePr>
        <p:xfrm>
          <a:off x="2032000" y="1193630"/>
          <a:ext cx="8128000" cy="2993052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65376595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145218773"/>
                    </a:ext>
                  </a:extLst>
                </a:gridCol>
              </a:tblGrid>
              <a:tr h="748263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501658"/>
                  </a:ext>
                </a:extLst>
              </a:tr>
              <a:tr h="748263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rgbClr val="00B050"/>
                          </a:solidFill>
                        </a:rPr>
                        <a:t>TRUE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rgbClr val="FF0000"/>
                          </a:solidFill>
                        </a:rPr>
                        <a:t>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8167353"/>
                  </a:ext>
                </a:extLst>
              </a:tr>
              <a:tr h="748263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rgbClr val="00B050"/>
                          </a:solidFill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rgbClr val="FF0000"/>
                          </a:solidFill>
                        </a:rPr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2814188"/>
                  </a:ext>
                </a:extLst>
              </a:tr>
              <a:tr h="748263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rgbClr val="00B050"/>
                          </a:solidFill>
                        </a:rPr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rgbClr val="FF0000"/>
                          </a:solidFill>
                        </a:rPr>
                        <a:t>OFF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5387964"/>
                  </a:ext>
                </a:extLst>
              </a:tr>
            </a:tbl>
          </a:graphicData>
        </a:graphic>
      </p:graphicFrame>
      <p:sp>
        <p:nvSpPr>
          <p:cNvPr id="7" name="Subtitle 5">
            <a:extLst>
              <a:ext uri="{FF2B5EF4-FFF2-40B4-BE49-F238E27FC236}">
                <a16:creationId xmlns:a16="http://schemas.microsoft.com/office/drawing/2014/main" id="{201B51DE-0CAA-4390-D092-293B35F174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1838" y="4650089"/>
            <a:ext cx="10433495" cy="718458"/>
          </a:xfrm>
        </p:spPr>
        <p:txBody>
          <a:bodyPr>
            <a:noAutofit/>
          </a:bodyPr>
          <a:lstStyle/>
          <a:p>
            <a:r>
              <a:rPr lang="en-PH" dirty="0"/>
              <a:t>It is called a binary system because it can only represent </a:t>
            </a:r>
            <a:r>
              <a:rPr lang="en-PH" b="1" dirty="0">
                <a:solidFill>
                  <a:srgbClr val="00B0F0"/>
                </a:solidFill>
              </a:rPr>
              <a:t>two states </a:t>
            </a:r>
            <a:r>
              <a:rPr lang="en-PH" dirty="0"/>
              <a:t>of information. In a binary system, a bit can store either </a:t>
            </a:r>
            <a:r>
              <a:rPr lang="en-PH" b="1" dirty="0">
                <a:solidFill>
                  <a:srgbClr val="00B050"/>
                </a:solidFill>
              </a:rPr>
              <a:t>ON</a:t>
            </a:r>
            <a:r>
              <a:rPr lang="en-PH" dirty="0"/>
              <a:t> or </a:t>
            </a:r>
            <a:r>
              <a:rPr lang="en-PH" b="1" dirty="0">
                <a:solidFill>
                  <a:srgbClr val="FF0000"/>
                </a:solidFill>
              </a:rPr>
              <a:t>OFF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0988F-CED9-990C-4DA0-239623D7A153}"/>
              </a:ext>
            </a:extLst>
          </p:cNvPr>
          <p:cNvSpPr txBox="1"/>
          <p:nvPr/>
        </p:nvSpPr>
        <p:spPr>
          <a:xfrm>
            <a:off x="911838" y="5435871"/>
            <a:ext cx="101794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400" dirty="0"/>
              <a:t>A </a:t>
            </a:r>
            <a:r>
              <a:rPr lang="en-PH" sz="2400" b="1" dirty="0">
                <a:solidFill>
                  <a:srgbClr val="00B0F0"/>
                </a:solidFill>
              </a:rPr>
              <a:t>bit</a:t>
            </a:r>
            <a:r>
              <a:rPr lang="en-PH" sz="2400" dirty="0"/>
              <a:t> is the smallest piece of information a computer can store.</a:t>
            </a:r>
          </a:p>
        </p:txBody>
      </p:sp>
    </p:spTree>
    <p:extLst>
      <p:ext uri="{BB962C8B-B14F-4D97-AF65-F5344CB8AC3E}">
        <p14:creationId xmlns:p14="http://schemas.microsoft.com/office/powerpoint/2010/main" val="855891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Representation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7" name="Subtitle 5">
            <a:extLst>
              <a:ext uri="{FF2B5EF4-FFF2-40B4-BE49-F238E27FC236}">
                <a16:creationId xmlns:a16="http://schemas.microsoft.com/office/drawing/2014/main" id="{201B51DE-0CAA-4390-D092-293B35F174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9252" y="5164670"/>
            <a:ext cx="10433495" cy="414275"/>
          </a:xfrm>
        </p:spPr>
        <p:txBody>
          <a:bodyPr>
            <a:noAutofit/>
          </a:bodyPr>
          <a:lstStyle/>
          <a:p>
            <a:r>
              <a:rPr lang="en-PH" sz="3000" dirty="0"/>
              <a:t>With more bits, we can represent </a:t>
            </a:r>
            <a:r>
              <a:rPr lang="en-PH" sz="3000" b="1" dirty="0">
                <a:solidFill>
                  <a:srgbClr val="00B0F0"/>
                </a:solidFill>
              </a:rPr>
              <a:t>more complex information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731FE2-E42E-8F98-A1AB-D7F5C65751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604782"/>
              </p:ext>
            </p:extLst>
          </p:nvPr>
        </p:nvGraphicFramePr>
        <p:xfrm>
          <a:off x="2328774" y="2563119"/>
          <a:ext cx="215713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565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1078565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25A9A7-AB1D-C26B-E34E-B6D52B74DA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565405"/>
              </p:ext>
            </p:extLst>
          </p:nvPr>
        </p:nvGraphicFramePr>
        <p:xfrm>
          <a:off x="2328776" y="1649504"/>
          <a:ext cx="215712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129">
                  <a:extLst>
                    <a:ext uri="{9D8B030D-6E8A-4147-A177-3AD203B41FA5}">
                      <a16:colId xmlns:a16="http://schemas.microsoft.com/office/drawing/2014/main" val="31836663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27386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332CC37-EAE8-4004-1F0E-0DB4CA8ED6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09687"/>
              </p:ext>
            </p:extLst>
          </p:nvPr>
        </p:nvGraphicFramePr>
        <p:xfrm>
          <a:off x="4863966" y="1654879"/>
          <a:ext cx="215712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129">
                  <a:extLst>
                    <a:ext uri="{9D8B030D-6E8A-4147-A177-3AD203B41FA5}">
                      <a16:colId xmlns:a16="http://schemas.microsoft.com/office/drawing/2014/main" val="31836663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27386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D792A4D-1EF5-C066-0E39-3F117F79F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37916"/>
              </p:ext>
            </p:extLst>
          </p:nvPr>
        </p:nvGraphicFramePr>
        <p:xfrm>
          <a:off x="4863962" y="2563119"/>
          <a:ext cx="215713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565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1078565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14C0945B-6B98-147C-137F-3A2929E477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070317"/>
              </p:ext>
            </p:extLst>
          </p:nvPr>
        </p:nvGraphicFramePr>
        <p:xfrm>
          <a:off x="7266534" y="2540997"/>
          <a:ext cx="215713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565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1078565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76CC6E8-77D8-B12A-D933-6936D1BBA2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550081"/>
              </p:ext>
            </p:extLst>
          </p:nvPr>
        </p:nvGraphicFramePr>
        <p:xfrm>
          <a:off x="9669106" y="2525234"/>
          <a:ext cx="215713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565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1078565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sp>
        <p:nvSpPr>
          <p:cNvPr id="14" name="Subtitle 5">
            <a:extLst>
              <a:ext uri="{FF2B5EF4-FFF2-40B4-BE49-F238E27FC236}">
                <a16:creationId xmlns:a16="http://schemas.microsoft.com/office/drawing/2014/main" id="{A45E9B14-74FD-B65A-E7F3-889537CF70EA}"/>
              </a:ext>
            </a:extLst>
          </p:cNvPr>
          <p:cNvSpPr txBox="1">
            <a:spLocks/>
          </p:cNvSpPr>
          <p:nvPr/>
        </p:nvSpPr>
        <p:spPr>
          <a:xfrm>
            <a:off x="602225" y="1649825"/>
            <a:ext cx="997975" cy="4056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PH" sz="3000" b="1" dirty="0"/>
              <a:t>1 bit</a:t>
            </a:r>
            <a:endParaRPr lang="en-PH" sz="3000" b="1" dirty="0">
              <a:solidFill>
                <a:srgbClr val="00B0F0"/>
              </a:solidFill>
            </a:endParaRPr>
          </a:p>
        </p:txBody>
      </p:sp>
      <p:sp>
        <p:nvSpPr>
          <p:cNvPr id="15" name="Subtitle 5">
            <a:extLst>
              <a:ext uri="{FF2B5EF4-FFF2-40B4-BE49-F238E27FC236}">
                <a16:creationId xmlns:a16="http://schemas.microsoft.com/office/drawing/2014/main" id="{8A7F388B-5782-7B98-968E-7454D3A512F5}"/>
              </a:ext>
            </a:extLst>
          </p:cNvPr>
          <p:cNvSpPr txBox="1">
            <a:spLocks/>
          </p:cNvSpPr>
          <p:nvPr/>
        </p:nvSpPr>
        <p:spPr>
          <a:xfrm>
            <a:off x="602221" y="2521062"/>
            <a:ext cx="1188226" cy="4056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PH" sz="3000" b="1" dirty="0"/>
              <a:t>2 bits</a:t>
            </a:r>
            <a:endParaRPr lang="en-PH" sz="3000" b="1" dirty="0">
              <a:solidFill>
                <a:srgbClr val="00B0F0"/>
              </a:solidFill>
            </a:endParaRPr>
          </a:p>
        </p:txBody>
      </p:sp>
      <p:sp>
        <p:nvSpPr>
          <p:cNvPr id="16" name="Subtitle 5">
            <a:extLst>
              <a:ext uri="{FF2B5EF4-FFF2-40B4-BE49-F238E27FC236}">
                <a16:creationId xmlns:a16="http://schemas.microsoft.com/office/drawing/2014/main" id="{B2BC588D-CBC1-BD4A-D8C8-590B6196DA58}"/>
              </a:ext>
            </a:extLst>
          </p:cNvPr>
          <p:cNvSpPr txBox="1">
            <a:spLocks/>
          </p:cNvSpPr>
          <p:nvPr/>
        </p:nvSpPr>
        <p:spPr>
          <a:xfrm>
            <a:off x="602224" y="3445542"/>
            <a:ext cx="1188226" cy="4056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PH" sz="3000" b="1" dirty="0"/>
              <a:t>3 bits</a:t>
            </a:r>
            <a:endParaRPr lang="en-PH" sz="3000" b="1" dirty="0">
              <a:solidFill>
                <a:srgbClr val="00B0F0"/>
              </a:solidFill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7E0DAD3-C670-E281-3DFB-1DBB90E0F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51197"/>
              </p:ext>
            </p:extLst>
          </p:nvPr>
        </p:nvGraphicFramePr>
        <p:xfrm>
          <a:off x="2328775" y="3489475"/>
          <a:ext cx="215712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043">
                  <a:extLst>
                    <a:ext uri="{9D8B030D-6E8A-4147-A177-3AD203B41FA5}">
                      <a16:colId xmlns:a16="http://schemas.microsoft.com/office/drawing/2014/main" val="1054896593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668E409-13FB-C589-22B1-13B2B63DC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53233"/>
              </p:ext>
            </p:extLst>
          </p:nvPr>
        </p:nvGraphicFramePr>
        <p:xfrm>
          <a:off x="4863966" y="3465477"/>
          <a:ext cx="215712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043">
                  <a:extLst>
                    <a:ext uri="{9D8B030D-6E8A-4147-A177-3AD203B41FA5}">
                      <a16:colId xmlns:a16="http://schemas.microsoft.com/office/drawing/2014/main" val="1054896593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3CE9937-7FEF-1858-DB31-054F9DF9EC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175714"/>
              </p:ext>
            </p:extLst>
          </p:nvPr>
        </p:nvGraphicFramePr>
        <p:xfrm>
          <a:off x="7266538" y="3489475"/>
          <a:ext cx="215712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043">
                  <a:extLst>
                    <a:ext uri="{9D8B030D-6E8A-4147-A177-3AD203B41FA5}">
                      <a16:colId xmlns:a16="http://schemas.microsoft.com/office/drawing/2014/main" val="1054896593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2DCA82B8-D5D2-3D01-BD9D-C02F78508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234140"/>
              </p:ext>
            </p:extLst>
          </p:nvPr>
        </p:nvGraphicFramePr>
        <p:xfrm>
          <a:off x="9669110" y="3489475"/>
          <a:ext cx="215712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043">
                  <a:extLst>
                    <a:ext uri="{9D8B030D-6E8A-4147-A177-3AD203B41FA5}">
                      <a16:colId xmlns:a16="http://schemas.microsoft.com/office/drawing/2014/main" val="1054896593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48C2B999-867D-802E-531E-7FF143A02E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889951"/>
              </p:ext>
            </p:extLst>
          </p:nvPr>
        </p:nvGraphicFramePr>
        <p:xfrm>
          <a:off x="2328775" y="4073511"/>
          <a:ext cx="215712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043">
                  <a:extLst>
                    <a:ext uri="{9D8B030D-6E8A-4147-A177-3AD203B41FA5}">
                      <a16:colId xmlns:a16="http://schemas.microsoft.com/office/drawing/2014/main" val="1054896593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0BE6A5D-807C-5C6D-5520-EFA9DE17EE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7869215"/>
              </p:ext>
            </p:extLst>
          </p:nvPr>
        </p:nvGraphicFramePr>
        <p:xfrm>
          <a:off x="4863966" y="4055972"/>
          <a:ext cx="215712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043">
                  <a:extLst>
                    <a:ext uri="{9D8B030D-6E8A-4147-A177-3AD203B41FA5}">
                      <a16:colId xmlns:a16="http://schemas.microsoft.com/office/drawing/2014/main" val="1054896593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1DE59C2C-578E-4D0C-6F1A-9B9C8BB831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958321"/>
              </p:ext>
            </p:extLst>
          </p:nvPr>
        </p:nvGraphicFramePr>
        <p:xfrm>
          <a:off x="7266538" y="4061662"/>
          <a:ext cx="215712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043">
                  <a:extLst>
                    <a:ext uri="{9D8B030D-6E8A-4147-A177-3AD203B41FA5}">
                      <a16:colId xmlns:a16="http://schemas.microsoft.com/office/drawing/2014/main" val="1054896593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815A259B-EE8F-0853-9D90-CA3CFA2B6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1464655"/>
              </p:ext>
            </p:extLst>
          </p:nvPr>
        </p:nvGraphicFramePr>
        <p:xfrm>
          <a:off x="9669109" y="4050071"/>
          <a:ext cx="215712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043">
                  <a:extLst>
                    <a:ext uri="{9D8B030D-6E8A-4147-A177-3AD203B41FA5}">
                      <a16:colId xmlns:a16="http://schemas.microsoft.com/office/drawing/2014/main" val="1054896593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498678020"/>
                    </a:ext>
                  </a:extLst>
                </a:gridCol>
                <a:gridCol w="719043">
                  <a:extLst>
                    <a:ext uri="{9D8B030D-6E8A-4147-A177-3AD203B41FA5}">
                      <a16:colId xmlns:a16="http://schemas.microsoft.com/office/drawing/2014/main" val="391107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480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62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5" grpId="0"/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System and Decimal System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73BDD37-02CB-F30F-3DB4-CD2D552EFF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882772"/>
              </p:ext>
            </p:extLst>
          </p:nvPr>
        </p:nvGraphicFramePr>
        <p:xfrm>
          <a:off x="2032000" y="2048648"/>
          <a:ext cx="8128000" cy="109728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424716960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78447771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50989869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5408282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22947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736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1547393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1D309F5-2B5C-F1E2-BF9D-A881C9337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521569"/>
              </p:ext>
            </p:extLst>
          </p:nvPr>
        </p:nvGraphicFramePr>
        <p:xfrm>
          <a:off x="2032000" y="4086474"/>
          <a:ext cx="812800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19" name="Subtitle 5">
            <a:extLst>
              <a:ext uri="{FF2B5EF4-FFF2-40B4-BE49-F238E27FC236}">
                <a16:creationId xmlns:a16="http://schemas.microsoft.com/office/drawing/2014/main" id="{B8200AF3-8365-5F71-6E7B-45B371887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6359" y="1450701"/>
            <a:ext cx="1779281" cy="414275"/>
          </a:xfrm>
        </p:spPr>
        <p:txBody>
          <a:bodyPr>
            <a:noAutofit/>
          </a:bodyPr>
          <a:lstStyle/>
          <a:p>
            <a:r>
              <a:rPr lang="en-PH" sz="3000" b="1" dirty="0"/>
              <a:t>DECIMAL</a:t>
            </a:r>
          </a:p>
        </p:txBody>
      </p:sp>
      <p:sp>
        <p:nvSpPr>
          <p:cNvPr id="20" name="Subtitle 5">
            <a:extLst>
              <a:ext uri="{FF2B5EF4-FFF2-40B4-BE49-F238E27FC236}">
                <a16:creationId xmlns:a16="http://schemas.microsoft.com/office/drawing/2014/main" id="{8950446D-581F-AE79-3B91-A307078E0616}"/>
              </a:ext>
            </a:extLst>
          </p:cNvPr>
          <p:cNvSpPr txBox="1">
            <a:spLocks/>
          </p:cNvSpPr>
          <p:nvPr/>
        </p:nvSpPr>
        <p:spPr>
          <a:xfrm>
            <a:off x="5206358" y="3504935"/>
            <a:ext cx="1779281" cy="4142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PH" sz="3000" b="1" dirty="0"/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80211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1" build="p"/>
      <p:bldP spid="20" grpId="1" build="allAtOnce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Decimal Number System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1D309F5-2B5C-F1E2-BF9D-A881C9337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5247349"/>
              </p:ext>
            </p:extLst>
          </p:nvPr>
        </p:nvGraphicFramePr>
        <p:xfrm>
          <a:off x="2032000" y="2156151"/>
          <a:ext cx="8128000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97342726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C64CFB1-A9CE-2978-A695-A40A30B5691D}"/>
              </a:ext>
            </a:extLst>
          </p:cNvPr>
          <p:cNvSpPr txBox="1"/>
          <p:nvPr/>
        </p:nvSpPr>
        <p:spPr>
          <a:xfrm>
            <a:off x="8818723" y="3096677"/>
            <a:ext cx="7136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B70D5D-59C6-01C0-0F4B-E642705B449F}"/>
              </a:ext>
            </a:extLst>
          </p:cNvPr>
          <p:cNvSpPr txBox="1"/>
          <p:nvPr/>
        </p:nvSpPr>
        <p:spPr>
          <a:xfrm>
            <a:off x="6738571" y="3096678"/>
            <a:ext cx="6309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Ten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3BF863-D256-7529-E0C5-1CC7809A4B18}"/>
              </a:ext>
            </a:extLst>
          </p:cNvPr>
          <p:cNvSpPr txBox="1"/>
          <p:nvPr/>
        </p:nvSpPr>
        <p:spPr>
          <a:xfrm>
            <a:off x="4419600" y="3096677"/>
            <a:ext cx="13000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Hundred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FF0F91-511C-A50C-6E08-D982589FB267}"/>
              </a:ext>
            </a:extLst>
          </p:cNvPr>
          <p:cNvSpPr txBox="1"/>
          <p:nvPr/>
        </p:nvSpPr>
        <p:spPr>
          <a:xfrm>
            <a:off x="2201333" y="3100772"/>
            <a:ext cx="1438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Thousand</a:t>
            </a:r>
          </a:p>
        </p:txBody>
      </p:sp>
      <p:sp>
        <p:nvSpPr>
          <p:cNvPr id="13" name="Subtitle 5">
            <a:extLst>
              <a:ext uri="{FF2B5EF4-FFF2-40B4-BE49-F238E27FC236}">
                <a16:creationId xmlns:a16="http://schemas.microsoft.com/office/drawing/2014/main" id="{B5E747B5-DD5B-DF53-F251-9D685139BF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369" y="4120714"/>
            <a:ext cx="7357262" cy="586754"/>
          </a:xfrm>
        </p:spPr>
        <p:txBody>
          <a:bodyPr>
            <a:noAutofit/>
          </a:bodyPr>
          <a:lstStyle/>
          <a:p>
            <a:pPr algn="l"/>
            <a:r>
              <a:rPr lang="en-PH" sz="3000" dirty="0"/>
              <a:t>For each bit, we increase it by a </a:t>
            </a:r>
            <a:r>
              <a:rPr lang="en-PH" sz="3000" b="1" dirty="0">
                <a:solidFill>
                  <a:srgbClr val="00B0F0"/>
                </a:solidFill>
              </a:rPr>
              <a:t>factor of 10</a:t>
            </a:r>
            <a:r>
              <a:rPr lang="en-PH" sz="3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0807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Number System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1D309F5-2B5C-F1E2-BF9D-A881C9337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962679"/>
              </p:ext>
            </p:extLst>
          </p:nvPr>
        </p:nvGraphicFramePr>
        <p:xfrm>
          <a:off x="2032000" y="2156151"/>
          <a:ext cx="8128000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97342726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C64CFB1-A9CE-2978-A695-A40A30B5691D}"/>
              </a:ext>
            </a:extLst>
          </p:cNvPr>
          <p:cNvSpPr txBox="1"/>
          <p:nvPr/>
        </p:nvSpPr>
        <p:spPr>
          <a:xfrm>
            <a:off x="8818723" y="3096677"/>
            <a:ext cx="7136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B70D5D-59C6-01C0-0F4B-E642705B449F}"/>
              </a:ext>
            </a:extLst>
          </p:cNvPr>
          <p:cNvSpPr txBox="1"/>
          <p:nvPr/>
        </p:nvSpPr>
        <p:spPr>
          <a:xfrm>
            <a:off x="6738571" y="3096678"/>
            <a:ext cx="7196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Two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3BF863-D256-7529-E0C5-1CC7809A4B18}"/>
              </a:ext>
            </a:extLst>
          </p:cNvPr>
          <p:cNvSpPr txBox="1"/>
          <p:nvPr/>
        </p:nvSpPr>
        <p:spPr>
          <a:xfrm>
            <a:off x="4692260" y="3096677"/>
            <a:ext cx="761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Four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FF0F91-511C-A50C-6E08-D982589FB267}"/>
              </a:ext>
            </a:extLst>
          </p:cNvPr>
          <p:cNvSpPr txBox="1"/>
          <p:nvPr/>
        </p:nvSpPr>
        <p:spPr>
          <a:xfrm>
            <a:off x="2646038" y="3096677"/>
            <a:ext cx="82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Eight</a:t>
            </a:r>
          </a:p>
        </p:txBody>
      </p:sp>
      <p:sp>
        <p:nvSpPr>
          <p:cNvPr id="2" name="Subtitle 5">
            <a:extLst>
              <a:ext uri="{FF2B5EF4-FFF2-40B4-BE49-F238E27FC236}">
                <a16:creationId xmlns:a16="http://schemas.microsoft.com/office/drawing/2014/main" id="{40494D84-8821-8D35-0737-0CF5BADCC9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369" y="4120713"/>
            <a:ext cx="7357262" cy="586754"/>
          </a:xfrm>
        </p:spPr>
        <p:txBody>
          <a:bodyPr>
            <a:noAutofit/>
          </a:bodyPr>
          <a:lstStyle/>
          <a:p>
            <a:pPr algn="l"/>
            <a:r>
              <a:rPr lang="en-PH" sz="3000" dirty="0"/>
              <a:t>For each bit, we increase it by a </a:t>
            </a:r>
            <a:r>
              <a:rPr lang="en-PH" sz="3000" b="1" dirty="0">
                <a:solidFill>
                  <a:srgbClr val="00B0F0"/>
                </a:solidFill>
              </a:rPr>
              <a:t>factor of 2</a:t>
            </a:r>
            <a:r>
              <a:rPr lang="en-PH" sz="3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81172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Number System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73CD8A42-C230-47EC-0538-E1E9C5D5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7" y="1758211"/>
            <a:ext cx="10249786" cy="1383710"/>
          </a:xfrm>
        </p:spPr>
        <p:txBody>
          <a:bodyPr>
            <a:noAutofit/>
          </a:bodyPr>
          <a:lstStyle/>
          <a:p>
            <a:r>
              <a:rPr lang="en-PH" sz="4000" dirty="0"/>
              <a:t>Any </a:t>
            </a:r>
            <a:r>
              <a:rPr lang="en-PH" sz="4000" b="1" dirty="0">
                <a:solidFill>
                  <a:srgbClr val="00B0F0"/>
                </a:solidFill>
              </a:rPr>
              <a:t>number</a:t>
            </a:r>
            <a:r>
              <a:rPr lang="en-PH" sz="4000" dirty="0"/>
              <a:t> can be represented with a</a:t>
            </a:r>
          </a:p>
        </p:txBody>
      </p:sp>
      <p:pic>
        <p:nvPicPr>
          <p:cNvPr id="9" name="Picture 8" descr="A black number on a white background&#10;&#10;Description automatically generated">
            <a:extLst>
              <a:ext uri="{FF2B5EF4-FFF2-40B4-BE49-F238E27FC236}">
                <a16:creationId xmlns:a16="http://schemas.microsoft.com/office/drawing/2014/main" id="{355E12F1-EEC7-9DAB-BDB3-9D623C54E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2745" y="2847671"/>
            <a:ext cx="2120654" cy="2423605"/>
          </a:xfrm>
          <a:prstGeom prst="rect">
            <a:avLst/>
          </a:prstGeom>
        </p:spPr>
      </p:pic>
      <p:pic>
        <p:nvPicPr>
          <p:cNvPr id="13" name="Picture 12" descr="A black number one on a white background&#10;&#10;Description automatically generated">
            <a:extLst>
              <a:ext uri="{FF2B5EF4-FFF2-40B4-BE49-F238E27FC236}">
                <a16:creationId xmlns:a16="http://schemas.microsoft.com/office/drawing/2014/main" id="{5DA2F0C2-84DB-67EF-1DEC-6C59214E22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602" y="2833048"/>
            <a:ext cx="1853888" cy="2421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292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Number System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1D309F5-2B5C-F1E2-BF9D-A881C9337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61852"/>
              </p:ext>
            </p:extLst>
          </p:nvPr>
        </p:nvGraphicFramePr>
        <p:xfrm>
          <a:off x="2031999" y="3771586"/>
          <a:ext cx="8128000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97342726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C64CFB1-A9CE-2978-A695-A40A30B5691D}"/>
              </a:ext>
            </a:extLst>
          </p:cNvPr>
          <p:cNvSpPr txBox="1"/>
          <p:nvPr/>
        </p:nvSpPr>
        <p:spPr>
          <a:xfrm>
            <a:off x="8818722" y="4712112"/>
            <a:ext cx="7136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B70D5D-59C6-01C0-0F4B-E642705B449F}"/>
              </a:ext>
            </a:extLst>
          </p:cNvPr>
          <p:cNvSpPr txBox="1"/>
          <p:nvPr/>
        </p:nvSpPr>
        <p:spPr>
          <a:xfrm>
            <a:off x="6738570" y="4712113"/>
            <a:ext cx="7196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Two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3BF863-D256-7529-E0C5-1CC7809A4B18}"/>
              </a:ext>
            </a:extLst>
          </p:cNvPr>
          <p:cNvSpPr txBox="1"/>
          <p:nvPr/>
        </p:nvSpPr>
        <p:spPr>
          <a:xfrm>
            <a:off x="4692259" y="4712112"/>
            <a:ext cx="761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Four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FF0F91-511C-A50C-6E08-D982589FB267}"/>
              </a:ext>
            </a:extLst>
          </p:cNvPr>
          <p:cNvSpPr txBox="1"/>
          <p:nvPr/>
        </p:nvSpPr>
        <p:spPr>
          <a:xfrm>
            <a:off x="2646037" y="4712112"/>
            <a:ext cx="82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Eight</a:t>
            </a:r>
          </a:p>
        </p:txBody>
      </p:sp>
      <p:pic>
        <p:nvPicPr>
          <p:cNvPr id="3" name="Graphic 2" descr="Badge 9 with solid fill">
            <a:extLst>
              <a:ext uri="{FF2B5EF4-FFF2-40B4-BE49-F238E27FC236}">
                <a16:creationId xmlns:a16="http://schemas.microsoft.com/office/drawing/2014/main" id="{928686EC-3A01-2B9E-30F0-EE5FE8E9E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3499" y="1224001"/>
            <a:ext cx="2204999" cy="22049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2A6ED1-581C-C8E3-ED9C-13984A320F9D}"/>
              </a:ext>
            </a:extLst>
          </p:cNvPr>
          <p:cNvSpPr txBox="1"/>
          <p:nvPr/>
        </p:nvSpPr>
        <p:spPr>
          <a:xfrm>
            <a:off x="2031999" y="5241160"/>
            <a:ext cx="8255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(</a:t>
            </a:r>
            <a:r>
              <a:rPr lang="en-US" sz="4800" b="1" dirty="0">
                <a:solidFill>
                  <a:srgbClr val="92D050"/>
                </a:solidFill>
              </a:rPr>
              <a:t>1</a:t>
            </a:r>
            <a:r>
              <a:rPr lang="en-US" sz="4800" b="1" dirty="0"/>
              <a:t> x 8) + (</a:t>
            </a:r>
            <a:r>
              <a:rPr lang="en-US" sz="4800" b="1">
                <a:solidFill>
                  <a:srgbClr val="FF0000"/>
                </a:solidFill>
              </a:rPr>
              <a:t>0</a:t>
            </a:r>
            <a:r>
              <a:rPr lang="en-US" sz="4800" b="1"/>
              <a:t> x </a:t>
            </a:r>
            <a:r>
              <a:rPr lang="en-US" sz="4800" b="1" dirty="0"/>
              <a:t>4) + (</a:t>
            </a:r>
            <a:r>
              <a:rPr lang="en-US" sz="4800" b="1">
                <a:solidFill>
                  <a:srgbClr val="FF0000"/>
                </a:solidFill>
              </a:rPr>
              <a:t>0</a:t>
            </a:r>
            <a:r>
              <a:rPr lang="en-US" sz="4800" b="1"/>
              <a:t> x </a:t>
            </a:r>
            <a:r>
              <a:rPr lang="en-US" sz="4800" b="1" dirty="0"/>
              <a:t>2) + (</a:t>
            </a:r>
            <a:r>
              <a:rPr lang="en-US" sz="4800" b="1">
                <a:solidFill>
                  <a:srgbClr val="92D050"/>
                </a:solidFill>
              </a:rPr>
              <a:t>1</a:t>
            </a:r>
            <a:r>
              <a:rPr lang="en-US" sz="4800" b="1"/>
              <a:t> x </a:t>
            </a:r>
            <a:r>
              <a:rPr lang="en-US" sz="4800" b="1" dirty="0"/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1135466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77841-CCB2-5D9D-9E17-2F48B2388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73D6FB5C-7948-5AEA-C4E5-E76117409AE9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Number System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4C16022-672C-1FBA-BAD7-8AE6B41833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790029"/>
              </p:ext>
            </p:extLst>
          </p:nvPr>
        </p:nvGraphicFramePr>
        <p:xfrm>
          <a:off x="2031999" y="3771586"/>
          <a:ext cx="8128000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1522758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7342726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Sixteen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Eight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Four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Two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One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43183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E47C15B-A2B2-8FE9-6EA2-71C53A7E7B21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4C4B74-CCBE-3E0E-88BD-3B8EF18F2289}"/>
              </a:ext>
            </a:extLst>
          </p:cNvPr>
          <p:cNvSpPr txBox="1"/>
          <p:nvPr/>
        </p:nvSpPr>
        <p:spPr>
          <a:xfrm>
            <a:off x="2031999" y="5241160"/>
            <a:ext cx="812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(</a:t>
            </a:r>
            <a:r>
              <a:rPr lang="en-US" sz="3600" b="1" dirty="0">
                <a:solidFill>
                  <a:srgbClr val="92D050"/>
                </a:solidFill>
              </a:rPr>
              <a:t>1</a:t>
            </a:r>
            <a:r>
              <a:rPr lang="en-US" sz="3600" b="1" dirty="0"/>
              <a:t> x 16) +(</a:t>
            </a:r>
            <a:r>
              <a:rPr lang="en-US" sz="3600" b="1" dirty="0">
                <a:solidFill>
                  <a:srgbClr val="FF0000"/>
                </a:solidFill>
              </a:rPr>
              <a:t>0</a:t>
            </a:r>
            <a:r>
              <a:rPr lang="en-US" sz="3600" b="1" dirty="0"/>
              <a:t> x 8) + (</a:t>
            </a:r>
            <a:r>
              <a:rPr lang="en-US" sz="3600" b="1" dirty="0">
                <a:solidFill>
                  <a:srgbClr val="92D050"/>
                </a:solidFill>
              </a:rPr>
              <a:t>1</a:t>
            </a:r>
            <a:r>
              <a:rPr lang="en-US" sz="3600" b="1" dirty="0"/>
              <a:t> x 4) + (</a:t>
            </a:r>
            <a:r>
              <a:rPr lang="en-US" sz="3600" b="1" dirty="0">
                <a:solidFill>
                  <a:srgbClr val="FF0000"/>
                </a:solidFill>
              </a:rPr>
              <a:t>0</a:t>
            </a:r>
            <a:r>
              <a:rPr lang="en-US" sz="3600" b="1" dirty="0"/>
              <a:t> x 2) + (</a:t>
            </a:r>
            <a:r>
              <a:rPr lang="en-US" sz="3600" b="1" dirty="0">
                <a:solidFill>
                  <a:srgbClr val="FF0000"/>
                </a:solidFill>
              </a:rPr>
              <a:t>0</a:t>
            </a:r>
            <a:r>
              <a:rPr lang="en-US" sz="3600" b="1" dirty="0"/>
              <a:t> x 1)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F57008A-0DC5-16AB-9C41-84F291775904}"/>
              </a:ext>
            </a:extLst>
          </p:cNvPr>
          <p:cNvSpPr/>
          <p:nvPr/>
        </p:nvSpPr>
        <p:spPr>
          <a:xfrm>
            <a:off x="5195999" y="1343094"/>
            <a:ext cx="1800000" cy="180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8000" b="1" dirty="0"/>
              <a:t>20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0145C711-A432-4053-20DE-17313F8B91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368" y="6081944"/>
            <a:ext cx="7357262" cy="586754"/>
          </a:xfrm>
        </p:spPr>
        <p:txBody>
          <a:bodyPr>
            <a:noAutofit/>
          </a:bodyPr>
          <a:lstStyle/>
          <a:p>
            <a:pPr algn="l"/>
            <a:r>
              <a:rPr lang="en-PH" sz="3000" dirty="0"/>
              <a:t>We add </a:t>
            </a:r>
            <a:r>
              <a:rPr lang="en-PH" sz="3000" b="1" dirty="0">
                <a:solidFill>
                  <a:srgbClr val="00B0F0"/>
                </a:solidFill>
              </a:rPr>
              <a:t>one bit </a:t>
            </a:r>
            <a:r>
              <a:rPr lang="en-PH" sz="3000" dirty="0"/>
              <a:t>to represent the value of </a:t>
            </a:r>
            <a:r>
              <a:rPr lang="en-PH" sz="3000" b="1" dirty="0">
                <a:solidFill>
                  <a:srgbClr val="00B0F0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769183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EF56A-B217-2A04-0699-A93158498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B43BE45C-71BE-CECF-34C6-674C79218B3D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Number System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57A45929-889F-CCF5-C3A4-E9042D971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159093"/>
              </p:ext>
            </p:extLst>
          </p:nvPr>
        </p:nvGraphicFramePr>
        <p:xfrm>
          <a:off x="2031999" y="3771586"/>
          <a:ext cx="8128002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461203458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1522758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97342726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Thirty Two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Sixteen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Eight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Four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Two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One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43183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6FCCDC8-5EEA-3A96-2712-192FBD5A6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56C38D-D794-F7FB-9AD6-88F2603EAE1F}"/>
              </a:ext>
            </a:extLst>
          </p:cNvPr>
          <p:cNvSpPr txBox="1"/>
          <p:nvPr/>
        </p:nvSpPr>
        <p:spPr>
          <a:xfrm>
            <a:off x="2031998" y="5241160"/>
            <a:ext cx="812800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/>
              <a:t>(</a:t>
            </a:r>
            <a:r>
              <a:rPr lang="en-US" sz="3000" b="1" dirty="0">
                <a:solidFill>
                  <a:srgbClr val="92D050"/>
                </a:solidFill>
              </a:rPr>
              <a:t>1</a:t>
            </a:r>
            <a:r>
              <a:rPr lang="en-US" sz="3000" b="1" dirty="0"/>
              <a:t> x 32) +(</a:t>
            </a:r>
            <a:r>
              <a:rPr lang="en-US" sz="3000" b="1" dirty="0">
                <a:solidFill>
                  <a:srgbClr val="FF0000"/>
                </a:solidFill>
              </a:rPr>
              <a:t>0</a:t>
            </a:r>
            <a:r>
              <a:rPr lang="en-US" sz="3000" b="1" dirty="0"/>
              <a:t> x 16) +(</a:t>
            </a:r>
            <a:r>
              <a:rPr lang="en-US" sz="3000" b="1" dirty="0">
                <a:solidFill>
                  <a:srgbClr val="FF0000"/>
                </a:solidFill>
              </a:rPr>
              <a:t>1</a:t>
            </a:r>
            <a:r>
              <a:rPr lang="en-US" sz="3000" b="1" dirty="0"/>
              <a:t> x 8) + (</a:t>
            </a:r>
            <a:r>
              <a:rPr lang="en-US" sz="3000" b="1" dirty="0">
                <a:solidFill>
                  <a:srgbClr val="FF0000"/>
                </a:solidFill>
              </a:rPr>
              <a:t>0</a:t>
            </a:r>
            <a:r>
              <a:rPr lang="en-US" sz="3000" b="1" dirty="0"/>
              <a:t> x 4) + (</a:t>
            </a:r>
            <a:r>
              <a:rPr lang="en-US" sz="3000" b="1" dirty="0">
                <a:solidFill>
                  <a:srgbClr val="FF0000"/>
                </a:solidFill>
              </a:rPr>
              <a:t>0</a:t>
            </a:r>
            <a:r>
              <a:rPr lang="en-US" sz="3000" b="1" dirty="0"/>
              <a:t> x 2) + (</a:t>
            </a:r>
            <a:r>
              <a:rPr lang="en-US" sz="3000" b="1" dirty="0">
                <a:solidFill>
                  <a:srgbClr val="FF0000"/>
                </a:solidFill>
              </a:rPr>
              <a:t>0 </a:t>
            </a:r>
            <a:r>
              <a:rPr lang="en-US" sz="3000" b="1" dirty="0"/>
              <a:t>x 1)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B8532-AA12-99A7-E68A-26C42644D919}"/>
              </a:ext>
            </a:extLst>
          </p:cNvPr>
          <p:cNvSpPr/>
          <p:nvPr/>
        </p:nvSpPr>
        <p:spPr>
          <a:xfrm>
            <a:off x="5195999" y="1343094"/>
            <a:ext cx="1800000" cy="180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8000" b="1" dirty="0"/>
              <a:t>40</a:t>
            </a:r>
          </a:p>
        </p:txBody>
      </p:sp>
      <p:sp>
        <p:nvSpPr>
          <p:cNvPr id="3" name="Subtitle 5">
            <a:extLst>
              <a:ext uri="{FF2B5EF4-FFF2-40B4-BE49-F238E27FC236}">
                <a16:creationId xmlns:a16="http://schemas.microsoft.com/office/drawing/2014/main" id="{92818266-A709-61CB-249F-8A59B926C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368" y="6081944"/>
            <a:ext cx="7357262" cy="586754"/>
          </a:xfrm>
        </p:spPr>
        <p:txBody>
          <a:bodyPr>
            <a:noAutofit/>
          </a:bodyPr>
          <a:lstStyle/>
          <a:p>
            <a:pPr algn="l"/>
            <a:r>
              <a:rPr lang="en-PH" sz="3000" dirty="0"/>
              <a:t>We add </a:t>
            </a:r>
            <a:r>
              <a:rPr lang="en-PH" sz="3000" b="1" dirty="0">
                <a:solidFill>
                  <a:srgbClr val="00B0F0"/>
                </a:solidFill>
              </a:rPr>
              <a:t>one bit </a:t>
            </a:r>
            <a:r>
              <a:rPr lang="en-PH" sz="3000" dirty="0"/>
              <a:t>to represent the value of </a:t>
            </a:r>
            <a:r>
              <a:rPr lang="en-PH" sz="3000" b="1" dirty="0">
                <a:solidFill>
                  <a:srgbClr val="00B0F0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130585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Number System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1D309F5-2B5C-F1E2-BF9D-A881C9337D1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5062970"/>
          <a:ext cx="8128000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7935311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3978055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544995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629020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342726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73CD8A42-C230-47EC-0538-E1E9C5D5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7" y="1516720"/>
            <a:ext cx="10249786" cy="718459"/>
          </a:xfrm>
        </p:spPr>
        <p:txBody>
          <a:bodyPr>
            <a:noAutofit/>
          </a:bodyPr>
          <a:lstStyle/>
          <a:p>
            <a:r>
              <a:rPr lang="en-PH" sz="4000" dirty="0"/>
              <a:t>With </a:t>
            </a:r>
            <a:r>
              <a:rPr lang="en-PH" sz="4000" b="1" dirty="0">
                <a:solidFill>
                  <a:srgbClr val="00B0F0"/>
                </a:solidFill>
              </a:rPr>
              <a:t>8 bits</a:t>
            </a:r>
            <a:r>
              <a:rPr lang="en-PH" sz="4000" dirty="0"/>
              <a:t>, we can store any number between 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6BC4757-D14D-EBA4-E082-966CB22BB3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976035"/>
              </p:ext>
            </p:extLst>
          </p:nvPr>
        </p:nvGraphicFramePr>
        <p:xfrm>
          <a:off x="2032000" y="3239825"/>
          <a:ext cx="8128000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7935311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3978055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544995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629020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342726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2C10B3C-B0DB-2BBC-A6F0-AC571E4E7449}"/>
              </a:ext>
            </a:extLst>
          </p:cNvPr>
          <p:cNvSpPr txBox="1"/>
          <p:nvPr/>
        </p:nvSpPr>
        <p:spPr>
          <a:xfrm>
            <a:off x="5126254" y="4284140"/>
            <a:ext cx="19394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4000" dirty="0"/>
              <a:t>and 255 </a:t>
            </a:r>
            <a:endParaRPr lang="en-US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6CCEF9-C5FC-0277-2F47-4320124F7D8E}"/>
              </a:ext>
            </a:extLst>
          </p:cNvPr>
          <p:cNvSpPr txBox="1"/>
          <p:nvPr/>
        </p:nvSpPr>
        <p:spPr>
          <a:xfrm>
            <a:off x="5863166" y="2401030"/>
            <a:ext cx="46566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50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51804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/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Binary Number System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1D309F5-2B5C-F1E2-BF9D-A881C9337D17}"/>
              </a:ext>
            </a:extLst>
          </p:cNvPr>
          <p:cNvGraphicFramePr>
            <a:graphicFrameLocks noGrp="1"/>
          </p:cNvGraphicFramePr>
          <p:nvPr/>
        </p:nvGraphicFramePr>
        <p:xfrm>
          <a:off x="355600" y="5043245"/>
          <a:ext cx="11480800" cy="596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775">
                  <a:extLst>
                    <a:ext uri="{9D8B030D-6E8A-4147-A177-3AD203B41FA5}">
                      <a16:colId xmlns:a16="http://schemas.microsoft.com/office/drawing/2014/main" val="28026321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90471097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325173783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418759111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96351416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89549169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742889956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86931426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733206643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909365251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15341904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64709735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610589581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554608966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22533859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97590637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47197688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883234942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63346444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42698816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271553527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750524102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7138531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269731531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679353116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839780557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25449954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96290202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973427264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596070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73CD8A42-C230-47EC-0538-E1E9C5D5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7" y="1516720"/>
            <a:ext cx="10249786" cy="718459"/>
          </a:xfrm>
        </p:spPr>
        <p:txBody>
          <a:bodyPr>
            <a:noAutofit/>
          </a:bodyPr>
          <a:lstStyle/>
          <a:p>
            <a:r>
              <a:rPr lang="en-PH" sz="4000" dirty="0"/>
              <a:t>With </a:t>
            </a:r>
            <a:r>
              <a:rPr lang="en-PH" sz="4000" b="1" dirty="0">
                <a:solidFill>
                  <a:srgbClr val="00B0F0"/>
                </a:solidFill>
              </a:rPr>
              <a:t>32 bits</a:t>
            </a:r>
            <a:r>
              <a:rPr lang="en-PH" sz="4000" dirty="0"/>
              <a:t>, we can store any number between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C10B3C-B0DB-2BBC-A6F0-AC571E4E7449}"/>
              </a:ext>
            </a:extLst>
          </p:cNvPr>
          <p:cNvSpPr txBox="1"/>
          <p:nvPr/>
        </p:nvSpPr>
        <p:spPr>
          <a:xfrm>
            <a:off x="4582425" y="4267450"/>
            <a:ext cx="34928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4000" dirty="0"/>
              <a:t>to over 4 billion </a:t>
            </a:r>
            <a:endParaRPr lang="en-US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6CCEF9-C5FC-0277-2F47-4320124F7D8E}"/>
              </a:ext>
            </a:extLst>
          </p:cNvPr>
          <p:cNvSpPr txBox="1"/>
          <p:nvPr/>
        </p:nvSpPr>
        <p:spPr>
          <a:xfrm>
            <a:off x="5863166" y="2401030"/>
            <a:ext cx="46566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5000" dirty="0"/>
              <a:t>0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6F26609-7C8E-68A3-327D-04D2E6BAF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57623"/>
              </p:ext>
            </p:extLst>
          </p:nvPr>
        </p:nvGraphicFramePr>
        <p:xfrm>
          <a:off x="355599" y="3464995"/>
          <a:ext cx="11480800" cy="596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775">
                  <a:extLst>
                    <a:ext uri="{9D8B030D-6E8A-4147-A177-3AD203B41FA5}">
                      <a16:colId xmlns:a16="http://schemas.microsoft.com/office/drawing/2014/main" val="28026321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90471097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325173783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418759111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96351416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89549169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742889956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86931426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733206643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909365251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15341904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64709735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610589581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554608966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22533859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97590637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47197688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883234942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63346444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42698816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271553527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750524102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7138531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269731531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679353116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1839780557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254499540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3962902025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2973427264"/>
                    </a:ext>
                  </a:extLst>
                </a:gridCol>
                <a:gridCol w="358775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596070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0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6455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262325-57BF-43A0-F2C4-7EF0AB41E3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pPr algn="l"/>
            <a:r>
              <a:rPr lang="en-GB" sz="5400" b="1" dirty="0">
                <a:latin typeface="Calibri Light (Headings)"/>
              </a:rPr>
              <a:t>Outline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F5E599-1EC1-9071-8747-7DC88BFC6E27}"/>
              </a:ext>
            </a:extLst>
          </p:cNvPr>
          <p:cNvSpPr txBox="1">
            <a:spLocks/>
          </p:cNvSpPr>
          <p:nvPr/>
        </p:nvSpPr>
        <p:spPr>
          <a:xfrm>
            <a:off x="459205" y="1095279"/>
            <a:ext cx="11273589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800" i="0" dirty="0">
              <a:solidFill>
                <a:srgbClr val="252C33"/>
              </a:solidFill>
              <a:effectLst/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2800" b="1" i="0" dirty="0">
                <a:solidFill>
                  <a:schemeClr val="bg2">
                    <a:lumMod val="75000"/>
                  </a:schemeClr>
                </a:solidFill>
                <a:effectLst/>
                <a:latin typeface="Calibri Light (Headings)"/>
              </a:rPr>
              <a:t>Representing Information 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0" i="0" dirty="0">
              <a:solidFill>
                <a:srgbClr val="636C8B"/>
              </a:solidFill>
              <a:effectLst/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2800" b="1" i="0" dirty="0">
                <a:solidFill>
                  <a:schemeClr val="bg2">
                    <a:lumMod val="75000"/>
                  </a:schemeClr>
                </a:solidFill>
                <a:effectLst/>
                <a:latin typeface="Calibri Light (Headings)"/>
              </a:rPr>
              <a:t>Binary Representation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1" dirty="0">
              <a:solidFill>
                <a:schemeClr val="bg2">
                  <a:lumMod val="75000"/>
                </a:schemeClr>
              </a:solidFill>
              <a:latin typeface="Calibri Light (Headings)"/>
            </a:endParaRP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2800" b="1" i="0" dirty="0">
                <a:effectLst/>
                <a:latin typeface="Calibri Light (Headings)"/>
              </a:rPr>
              <a:t>Text, Images and Sound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2800" b="0" i="0" dirty="0">
              <a:solidFill>
                <a:schemeClr val="bg2">
                  <a:lumMod val="75000"/>
                </a:schemeClr>
              </a:solidFill>
              <a:effectLst/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  <a:p>
            <a:pPr algn="l"/>
            <a:endParaRPr lang="en-US" sz="2800" dirty="0">
              <a:solidFill>
                <a:srgbClr val="636C8B"/>
              </a:solidFill>
              <a:latin typeface="Calibri Light (Headings)"/>
            </a:endParaRPr>
          </a:p>
        </p:txBody>
      </p:sp>
      <p:pic>
        <p:nvPicPr>
          <p:cNvPr id="8" name="Graphic 7" descr="Checkmark with solid fill">
            <a:extLst>
              <a:ext uri="{FF2B5EF4-FFF2-40B4-BE49-F238E27FC236}">
                <a16:creationId xmlns:a16="http://schemas.microsoft.com/office/drawing/2014/main" id="{B9390032-1C19-1D8F-325B-60F1EC6C7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89599" y="1095279"/>
            <a:ext cx="597907" cy="597907"/>
          </a:xfrm>
          <a:prstGeom prst="rect">
            <a:avLst/>
          </a:prstGeom>
        </p:spPr>
      </p:pic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713A2E88-B980-B273-FD86-1D1326162F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9834" y="1830869"/>
            <a:ext cx="597907" cy="59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210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Text, Image and Sound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73CD8A42-C230-47EC-0538-E1E9C5D5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7" y="1805867"/>
            <a:ext cx="10249786" cy="718459"/>
          </a:xfrm>
        </p:spPr>
        <p:txBody>
          <a:bodyPr>
            <a:noAutofit/>
          </a:bodyPr>
          <a:lstStyle/>
          <a:p>
            <a:r>
              <a:rPr lang="en-PH" sz="3000" b="1" dirty="0">
                <a:solidFill>
                  <a:srgbClr val="00B0F0"/>
                </a:solidFill>
              </a:rPr>
              <a:t>Text</a:t>
            </a:r>
            <a:r>
              <a:rPr lang="en-PH" sz="3000" dirty="0"/>
              <a:t>, </a:t>
            </a:r>
            <a:r>
              <a:rPr lang="en-PH" sz="3000" b="1" dirty="0">
                <a:solidFill>
                  <a:srgbClr val="00B0F0"/>
                </a:solidFill>
              </a:rPr>
              <a:t>Images</a:t>
            </a:r>
            <a:r>
              <a:rPr lang="en-PH" sz="3000" dirty="0"/>
              <a:t> and </a:t>
            </a:r>
            <a:r>
              <a:rPr lang="en-PH" sz="3000" b="1" dirty="0">
                <a:solidFill>
                  <a:srgbClr val="00B0F0"/>
                </a:solidFill>
              </a:rPr>
              <a:t>Sound</a:t>
            </a:r>
            <a:r>
              <a:rPr lang="en-PH" sz="3000" dirty="0"/>
              <a:t> can all be represented with numbers</a:t>
            </a:r>
          </a:p>
        </p:txBody>
      </p:sp>
      <p:pic>
        <p:nvPicPr>
          <p:cNvPr id="8" name="Picture 7" descr="A lake with mountains and trees&#10;&#10;Description automatically generated">
            <a:extLst>
              <a:ext uri="{FF2B5EF4-FFF2-40B4-BE49-F238E27FC236}">
                <a16:creationId xmlns:a16="http://schemas.microsoft.com/office/drawing/2014/main" id="{E388DB7A-9487-E1B3-82C4-F702F8D090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3484" y="3177937"/>
            <a:ext cx="3165032" cy="181775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A blue and pink sound wave&#10;&#10;Description automatically generated">
            <a:extLst>
              <a:ext uri="{FF2B5EF4-FFF2-40B4-BE49-F238E27FC236}">
                <a16:creationId xmlns:a16="http://schemas.microsoft.com/office/drawing/2014/main" id="{5E20A7FE-2FCE-B5A1-1542-69BAB2CCCF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9475" y="3177938"/>
            <a:ext cx="2272193" cy="181775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 descr="A black and white alphabet&#10;&#10;Description automatically generated">
            <a:extLst>
              <a:ext uri="{FF2B5EF4-FFF2-40B4-BE49-F238E27FC236}">
                <a16:creationId xmlns:a16="http://schemas.microsoft.com/office/drawing/2014/main" id="{4DA810FB-AEB6-A693-901D-E5FECEB36A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83" y="3177937"/>
            <a:ext cx="2736620" cy="181775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7721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Text in Binary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6E56BA-A981-86E7-7B6D-10C99B111EFD}"/>
              </a:ext>
            </a:extLst>
          </p:cNvPr>
          <p:cNvSpPr txBox="1"/>
          <p:nvPr/>
        </p:nvSpPr>
        <p:spPr>
          <a:xfrm>
            <a:off x="740833" y="1488701"/>
            <a:ext cx="107103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000" dirty="0"/>
              <a:t>One of the most popular binary systems for representing letters is called </a:t>
            </a:r>
            <a:r>
              <a:rPr lang="en-PH" sz="3000" b="1" dirty="0">
                <a:solidFill>
                  <a:srgbClr val="00B050"/>
                </a:solidFill>
              </a:rPr>
              <a:t>ASCII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3FB392-33CD-C28E-4833-BB0C40695BD5}"/>
              </a:ext>
            </a:extLst>
          </p:cNvPr>
          <p:cNvSpPr txBox="1"/>
          <p:nvPr/>
        </p:nvSpPr>
        <p:spPr>
          <a:xfrm>
            <a:off x="740832" y="2741768"/>
            <a:ext cx="1071033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000" dirty="0"/>
              <a:t>Each symbol or letter in ASCII has an equivalent binary value.</a:t>
            </a:r>
          </a:p>
        </p:txBody>
      </p:sp>
    </p:spTree>
    <p:extLst>
      <p:ext uri="{BB962C8B-B14F-4D97-AF65-F5344CB8AC3E}">
        <p14:creationId xmlns:p14="http://schemas.microsoft.com/office/powerpoint/2010/main" val="31906656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Text in Binary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DB16F6B-3140-B630-F9D9-C7779B17E0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303102"/>
              </p:ext>
            </p:extLst>
          </p:nvPr>
        </p:nvGraphicFramePr>
        <p:xfrm>
          <a:off x="2984500" y="1146629"/>
          <a:ext cx="6222999" cy="53549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74333">
                  <a:extLst>
                    <a:ext uri="{9D8B030D-6E8A-4147-A177-3AD203B41FA5}">
                      <a16:colId xmlns:a16="http://schemas.microsoft.com/office/drawing/2014/main" val="250935669"/>
                    </a:ext>
                  </a:extLst>
                </a:gridCol>
                <a:gridCol w="2074333">
                  <a:extLst>
                    <a:ext uri="{9D8B030D-6E8A-4147-A177-3AD203B41FA5}">
                      <a16:colId xmlns:a16="http://schemas.microsoft.com/office/drawing/2014/main" val="3921594800"/>
                    </a:ext>
                  </a:extLst>
                </a:gridCol>
                <a:gridCol w="2074333">
                  <a:extLst>
                    <a:ext uri="{9D8B030D-6E8A-4147-A177-3AD203B41FA5}">
                      <a16:colId xmlns:a16="http://schemas.microsoft.com/office/drawing/2014/main" val="768588523"/>
                    </a:ext>
                  </a:extLst>
                </a:gridCol>
              </a:tblGrid>
              <a:tr h="304685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b="1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Symbol</a:t>
                      </a: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b="1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Decimal</a:t>
                      </a: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b="1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Binary</a:t>
                      </a: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1242861660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dirty="0">
                          <a:solidFill>
                            <a:srgbClr val="525252"/>
                          </a:solidFill>
                          <a:effectLst/>
                        </a:rPr>
                        <a:t>A</a:t>
                      </a:r>
                      <a:endParaRPr lang="en-PH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65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dirty="0">
                          <a:solidFill>
                            <a:srgbClr val="525252"/>
                          </a:solidFill>
                          <a:effectLst/>
                        </a:rPr>
                        <a:t>1000001</a:t>
                      </a:r>
                      <a:endParaRPr lang="en-PH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339405627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B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66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dirty="0">
                          <a:solidFill>
                            <a:srgbClr val="525252"/>
                          </a:solidFill>
                          <a:effectLst/>
                        </a:rPr>
                        <a:t>1000010</a:t>
                      </a:r>
                      <a:endParaRPr lang="en-PH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527537890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C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67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1000011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1821556023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D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68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1000100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3281261525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E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69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1000101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2334041297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F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1000110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3226803572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G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1000111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3758466827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H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72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1001000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956774803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I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73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1001001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2984451316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J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74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1001010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2425748314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K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75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dirty="0">
                          <a:solidFill>
                            <a:srgbClr val="525252"/>
                          </a:solidFill>
                          <a:effectLst/>
                        </a:rPr>
                        <a:t>1001011</a:t>
                      </a:r>
                      <a:endParaRPr lang="en-PH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3961152170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L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76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1001100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1401688883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M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77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1001101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2294199529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N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78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1001110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642340246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O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79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1001111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1545010960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P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80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1010000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4061369542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Q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81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1010001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3843142523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R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82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1010010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1314009857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S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83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1010011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2683485246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161616"/>
                          </a:solidFill>
                          <a:effectLst/>
                        </a:rPr>
                        <a:t>T</a:t>
                      </a:r>
                      <a:endParaRPr lang="en-PH" sz="100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161616"/>
                          </a:solidFill>
                          <a:effectLst/>
                        </a:rPr>
                        <a:t>84</a:t>
                      </a:r>
                      <a:endParaRPr lang="en-PH" sz="100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161616"/>
                          </a:solidFill>
                          <a:effectLst/>
                        </a:rPr>
                        <a:t>1010100</a:t>
                      </a:r>
                      <a:endParaRPr lang="en-PH" sz="100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4120479430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U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85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1010101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1306544025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V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86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1010110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1201707267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161616"/>
                          </a:solidFill>
                          <a:effectLst/>
                        </a:rPr>
                        <a:t>W</a:t>
                      </a:r>
                      <a:endParaRPr lang="en-PH" sz="100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161616"/>
                          </a:solidFill>
                          <a:effectLst/>
                        </a:rPr>
                        <a:t>87</a:t>
                      </a:r>
                      <a:endParaRPr lang="en-PH" sz="100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161616"/>
                          </a:solidFill>
                          <a:effectLst/>
                        </a:rPr>
                        <a:t>1010111</a:t>
                      </a:r>
                      <a:endParaRPr lang="en-PH" sz="100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2841650450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X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88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1011000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1285756912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Y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89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>
                          <a:solidFill>
                            <a:srgbClr val="525252"/>
                          </a:solidFill>
                          <a:effectLst/>
                        </a:rPr>
                        <a:t>1011001</a:t>
                      </a:r>
                      <a:endParaRPr lang="en-PH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3302472445"/>
                  </a:ext>
                </a:extLst>
              </a:tr>
              <a:tr h="184094"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dirty="0">
                          <a:solidFill>
                            <a:srgbClr val="525252"/>
                          </a:solidFill>
                          <a:effectLst/>
                        </a:rPr>
                        <a:t>Z</a:t>
                      </a:r>
                      <a:endParaRPr lang="en-PH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dirty="0">
                          <a:solidFill>
                            <a:srgbClr val="525252"/>
                          </a:solidFill>
                          <a:effectLst/>
                        </a:rPr>
                        <a:t>90</a:t>
                      </a:r>
                      <a:endParaRPr lang="en-PH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PH" sz="1000" dirty="0">
                          <a:solidFill>
                            <a:srgbClr val="525252"/>
                          </a:solidFill>
                          <a:effectLst/>
                        </a:rPr>
                        <a:t>1011010</a:t>
                      </a:r>
                      <a:endParaRPr lang="en-PH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marL="41840" marR="41840" marT="20920" marB="20920" anchor="ctr"/>
                </a:tc>
                <a:extLst>
                  <a:ext uri="{0D108BD9-81ED-4DB2-BD59-A6C34878D82A}">
                    <a16:rowId xmlns:a16="http://schemas.microsoft.com/office/drawing/2014/main" val="623952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93949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Images in Binary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DED039-AA2C-88CF-A0F5-18710DB81964}"/>
              </a:ext>
            </a:extLst>
          </p:cNvPr>
          <p:cNvSpPr txBox="1"/>
          <p:nvPr/>
        </p:nvSpPr>
        <p:spPr>
          <a:xfrm>
            <a:off x="740833" y="1488701"/>
            <a:ext cx="107103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000" dirty="0"/>
              <a:t>All </a:t>
            </a:r>
            <a:r>
              <a:rPr lang="en-PH" sz="3000" b="1" dirty="0">
                <a:solidFill>
                  <a:srgbClr val="00B0F0"/>
                </a:solidFill>
              </a:rPr>
              <a:t>photos</a:t>
            </a:r>
            <a:r>
              <a:rPr lang="en-PH" sz="3000" dirty="0"/>
              <a:t>, </a:t>
            </a:r>
            <a:r>
              <a:rPr lang="en-PH" sz="3000" b="1" dirty="0">
                <a:solidFill>
                  <a:srgbClr val="00B0F0"/>
                </a:solidFill>
              </a:rPr>
              <a:t>videos</a:t>
            </a:r>
            <a:r>
              <a:rPr lang="en-PH" sz="3000" dirty="0"/>
              <a:t> and </a:t>
            </a:r>
            <a:r>
              <a:rPr lang="en-PH" sz="3000" b="1" dirty="0">
                <a:solidFill>
                  <a:srgbClr val="00B0F0"/>
                </a:solidFill>
              </a:rPr>
              <a:t>computer generated graphics </a:t>
            </a:r>
            <a:r>
              <a:rPr lang="en-PH" sz="3000" dirty="0"/>
              <a:t>that you see in a screen are all made up of tiny dots called </a:t>
            </a:r>
            <a:r>
              <a:rPr lang="en-PH" sz="3000" b="1" dirty="0">
                <a:solidFill>
                  <a:srgbClr val="00B050"/>
                </a:solidFill>
              </a:rPr>
              <a:t>pixels</a:t>
            </a:r>
            <a:r>
              <a:rPr lang="en-PH" sz="3000" b="1" dirty="0"/>
              <a:t>.</a:t>
            </a:r>
          </a:p>
        </p:txBody>
      </p:sp>
      <p:pic>
        <p:nvPicPr>
          <p:cNvPr id="4" name="Picture 3" descr="A lake with mountains and trees&#10;&#10;Description automatically generated">
            <a:extLst>
              <a:ext uri="{FF2B5EF4-FFF2-40B4-BE49-F238E27FC236}">
                <a16:creationId xmlns:a16="http://schemas.microsoft.com/office/drawing/2014/main" id="{363530BB-3E86-CBA8-A65C-AF892BBA24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5" y="3047118"/>
            <a:ext cx="4154384" cy="23859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A cartoon of a video game character&#10;&#10;Description automatically generated">
            <a:extLst>
              <a:ext uri="{FF2B5EF4-FFF2-40B4-BE49-F238E27FC236}">
                <a16:creationId xmlns:a16="http://schemas.microsoft.com/office/drawing/2014/main" id="{E0C9988E-A31F-B7B7-5AB6-1BDF42BEE5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443" y="3030774"/>
            <a:ext cx="3181285" cy="3181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172D704-95B5-C97C-5B16-90C9AD7FB1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939" y="3047118"/>
            <a:ext cx="3181285" cy="23859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66004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Images in Binary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DED039-AA2C-88CF-A0F5-18710DB81964}"/>
              </a:ext>
            </a:extLst>
          </p:cNvPr>
          <p:cNvSpPr txBox="1"/>
          <p:nvPr/>
        </p:nvSpPr>
        <p:spPr>
          <a:xfrm>
            <a:off x="774738" y="1282644"/>
            <a:ext cx="376737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000" dirty="0"/>
              <a:t>An image can be made up of millions of billions of </a:t>
            </a:r>
            <a:r>
              <a:rPr lang="en-PH" sz="3000" b="1" dirty="0">
                <a:solidFill>
                  <a:srgbClr val="00B050"/>
                </a:solidFill>
              </a:rPr>
              <a:t>pixels</a:t>
            </a:r>
            <a:r>
              <a:rPr lang="en-PH" sz="3000" b="1" dirty="0"/>
              <a:t>.</a:t>
            </a:r>
          </a:p>
        </p:txBody>
      </p:sp>
      <p:pic>
        <p:nvPicPr>
          <p:cNvPr id="11" name="Picture 10" descr="A close up of a parrot&#10;&#10;Description automatically generated">
            <a:extLst>
              <a:ext uri="{FF2B5EF4-FFF2-40B4-BE49-F238E27FC236}">
                <a16:creationId xmlns:a16="http://schemas.microsoft.com/office/drawing/2014/main" id="{E512ADA0-8222-3940-17E0-1129C68DDF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968" y="1442132"/>
            <a:ext cx="4476908" cy="33576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8CE9E-4576-BF33-3B5A-7A1AE01B5ED3}"/>
              </a:ext>
            </a:extLst>
          </p:cNvPr>
          <p:cNvSpPr txBox="1"/>
          <p:nvPr/>
        </p:nvSpPr>
        <p:spPr>
          <a:xfrm>
            <a:off x="774738" y="2997587"/>
            <a:ext cx="376737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000" dirty="0"/>
              <a:t>The quality of an image depends on the number of pixels it has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BF3495-1E64-90E0-0229-CC786C5959CF}"/>
              </a:ext>
            </a:extLst>
          </p:cNvPr>
          <p:cNvSpPr txBox="1"/>
          <p:nvPr/>
        </p:nvSpPr>
        <p:spPr>
          <a:xfrm>
            <a:off x="774738" y="4712530"/>
            <a:ext cx="376737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000" dirty="0"/>
              <a:t>The higher the pixel count, the sharper the image will be</a:t>
            </a:r>
          </a:p>
        </p:txBody>
      </p:sp>
    </p:spTree>
    <p:extLst>
      <p:ext uri="{BB962C8B-B14F-4D97-AF65-F5344CB8AC3E}">
        <p14:creationId xmlns:p14="http://schemas.microsoft.com/office/powerpoint/2010/main" val="832504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Images in Binary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C936E7-858B-6588-2EE3-EE207464B299}"/>
              </a:ext>
            </a:extLst>
          </p:cNvPr>
          <p:cNvSpPr txBox="1"/>
          <p:nvPr/>
        </p:nvSpPr>
        <p:spPr>
          <a:xfrm>
            <a:off x="545804" y="4468549"/>
            <a:ext cx="1110039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000" dirty="0"/>
              <a:t>Each pixel has a </a:t>
            </a:r>
            <a:r>
              <a:rPr lang="en-PH" sz="3000" b="1" dirty="0">
                <a:solidFill>
                  <a:srgbClr val="00B0F0"/>
                </a:solidFill>
              </a:rPr>
              <a:t>color</a:t>
            </a:r>
            <a:r>
              <a:rPr lang="en-PH" sz="3000" dirty="0"/>
              <a:t>, and each pixel can be represented by a </a:t>
            </a:r>
            <a:r>
              <a:rPr lang="en-PH" sz="3000" b="1" dirty="0"/>
              <a:t>number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41ACCE-86F2-B47B-4D7A-D9FAA81EB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344435"/>
              </p:ext>
            </p:extLst>
          </p:nvPr>
        </p:nvGraphicFramePr>
        <p:xfrm>
          <a:off x="3048000" y="1903349"/>
          <a:ext cx="6096000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3497857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942496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253</a:t>
                      </a:r>
                    </a:p>
                  </a:txBody>
                  <a:tcPr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78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141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Red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Green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000" b="1" dirty="0"/>
                        <a:t>Blue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77972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16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Images in Binary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49E26-3C68-29EB-7BED-ACB4101B15DE}"/>
              </a:ext>
            </a:extLst>
          </p:cNvPr>
          <p:cNvSpPr txBox="1"/>
          <p:nvPr/>
        </p:nvSpPr>
        <p:spPr>
          <a:xfrm>
            <a:off x="2473693" y="-15015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C936E7-858B-6588-2EE3-EE207464B299}"/>
              </a:ext>
            </a:extLst>
          </p:cNvPr>
          <p:cNvSpPr txBox="1"/>
          <p:nvPr/>
        </p:nvSpPr>
        <p:spPr>
          <a:xfrm>
            <a:off x="751369" y="5282126"/>
            <a:ext cx="1132367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000" dirty="0"/>
              <a:t>Each pixel has a </a:t>
            </a:r>
            <a:r>
              <a:rPr lang="en-PH" sz="3000" b="1" dirty="0">
                <a:solidFill>
                  <a:srgbClr val="00B0F0"/>
                </a:solidFill>
              </a:rPr>
              <a:t>color</a:t>
            </a:r>
            <a:r>
              <a:rPr lang="en-PH" sz="3000" dirty="0"/>
              <a:t>, and each pixel can be represented by a </a:t>
            </a:r>
            <a:r>
              <a:rPr lang="en-PH" sz="3000" b="1" dirty="0"/>
              <a:t>number</a:t>
            </a:r>
          </a:p>
        </p:txBody>
      </p:sp>
      <p:pic>
        <p:nvPicPr>
          <p:cNvPr id="3" name="Picture 2" descr="A pixelated cartoon of a person&#10;&#10;Description automatically generated">
            <a:extLst>
              <a:ext uri="{FF2B5EF4-FFF2-40B4-BE49-F238E27FC236}">
                <a16:creationId xmlns:a16="http://schemas.microsoft.com/office/drawing/2014/main" id="{C59DDA44-1177-4412-EAF1-B2CD8FA3BF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150" y="1321841"/>
            <a:ext cx="2841699" cy="377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3103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E290E7FE-5B97-1120-D5B2-956302F69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0353" y="1587159"/>
            <a:ext cx="5716772" cy="3729119"/>
          </a:xfrm>
        </p:spPr>
        <p:txBody>
          <a:bodyPr>
            <a:noAutofit/>
          </a:bodyPr>
          <a:lstStyle/>
          <a:p>
            <a:pPr algn="l"/>
            <a:r>
              <a:rPr lang="en-PH" sz="3000" dirty="0"/>
              <a:t>When we change the way that we represent information so that it's easier for a computer to use, we </a:t>
            </a:r>
            <a:r>
              <a:rPr lang="en-PH" sz="3000" b="1" dirty="0">
                <a:solidFill>
                  <a:srgbClr val="00B0F0"/>
                </a:solidFill>
              </a:rPr>
              <a:t>encode</a:t>
            </a:r>
            <a:r>
              <a:rPr lang="en-PH" sz="3000" dirty="0"/>
              <a:t> that information. </a:t>
            </a:r>
          </a:p>
          <a:p>
            <a:pPr algn="l"/>
            <a:r>
              <a:rPr lang="en-PH" sz="3000" dirty="0"/>
              <a:t>When we change it back so that it's easier for a human to understand, we </a:t>
            </a:r>
            <a:r>
              <a:rPr lang="en-PH" sz="3000" b="1" dirty="0">
                <a:solidFill>
                  <a:srgbClr val="00B0F0"/>
                </a:solidFill>
              </a:rPr>
              <a:t>decode</a:t>
            </a:r>
            <a:r>
              <a:rPr lang="en-PH" sz="3000" dirty="0"/>
              <a:t> that information.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189302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Encode and Decode</a:t>
            </a:r>
            <a:endParaRPr lang="en-PH" sz="5000" b="1" dirty="0">
              <a:latin typeface="Calibri Light (Headings)"/>
            </a:endParaRPr>
          </a:p>
        </p:txBody>
      </p:sp>
      <p:pic>
        <p:nvPicPr>
          <p:cNvPr id="3" name="Picture 2" descr="A pink surface with white text&#10;&#10;Description automatically generated">
            <a:extLst>
              <a:ext uri="{FF2B5EF4-FFF2-40B4-BE49-F238E27FC236}">
                <a16:creationId xmlns:a16="http://schemas.microsoft.com/office/drawing/2014/main" id="{5FF51E99-9941-B39D-1E9F-63E8CFEBB1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899" y="1587159"/>
            <a:ext cx="4977129" cy="279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36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E290E7FE-5B97-1120-D5B2-956302F69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1107" y="1827597"/>
            <a:ext cx="10249786" cy="1830004"/>
          </a:xfrm>
        </p:spPr>
        <p:txBody>
          <a:bodyPr>
            <a:noAutofit/>
          </a:bodyPr>
          <a:lstStyle/>
          <a:p>
            <a:pPr algn="l"/>
            <a:r>
              <a:rPr lang="en-PH" b="1" dirty="0"/>
              <a:t>Encode - </a:t>
            </a:r>
            <a:r>
              <a:rPr lang="en-PH" dirty="0"/>
              <a:t>change how information is represented so that it can be read by a computer</a:t>
            </a:r>
          </a:p>
          <a:p>
            <a:pPr algn="l"/>
            <a:r>
              <a:rPr lang="en-PH" b="1" dirty="0"/>
              <a:t>Decode - </a:t>
            </a:r>
            <a:r>
              <a:rPr lang="en-PH" dirty="0"/>
              <a:t>change how information is represented so that it can be read by a person</a:t>
            </a:r>
          </a:p>
          <a:p>
            <a:pPr algn="l"/>
            <a:r>
              <a:rPr lang="en-PH" b="1" dirty="0"/>
              <a:t>ASCII</a:t>
            </a:r>
            <a:r>
              <a:rPr lang="en-PH" dirty="0"/>
              <a:t> - a popular system for representing text in binary</a:t>
            </a:r>
          </a:p>
          <a:p>
            <a:pPr algn="l"/>
            <a:r>
              <a:rPr lang="en-PH" b="1" dirty="0"/>
              <a:t>Binary System</a:t>
            </a:r>
            <a:r>
              <a:rPr lang="en-PH" dirty="0"/>
              <a:t> - a way of representing information using only two options</a:t>
            </a:r>
          </a:p>
          <a:p>
            <a:pPr algn="l"/>
            <a:r>
              <a:rPr lang="en-PH" b="1" dirty="0"/>
              <a:t>Bit</a:t>
            </a:r>
            <a:r>
              <a:rPr lang="en-PH" dirty="0"/>
              <a:t> - a single piece of binary information</a:t>
            </a:r>
          </a:p>
          <a:p>
            <a:pPr algn="l"/>
            <a:endParaRPr lang="en-PH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D1A39AA-402D-C7B9-428E-667D783D2E0C}"/>
              </a:ext>
            </a:extLst>
          </p:cNvPr>
          <p:cNvSpPr txBox="1">
            <a:spLocks/>
          </p:cNvSpPr>
          <p:nvPr/>
        </p:nvSpPr>
        <p:spPr>
          <a:xfrm>
            <a:off x="1524000" y="316893"/>
            <a:ext cx="9144000" cy="8557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5400" b="1" dirty="0">
                <a:latin typeface="Calibri Light (Headings)"/>
              </a:rPr>
              <a:t>Summary</a:t>
            </a:r>
            <a:endParaRPr lang="en-PH" sz="5000" b="1" dirty="0">
              <a:latin typeface="Calibri Light (Headings)"/>
            </a:endParaRPr>
          </a:p>
        </p:txBody>
      </p:sp>
    </p:spTree>
    <p:extLst>
      <p:ext uri="{BB962C8B-B14F-4D97-AF65-F5344CB8AC3E}">
        <p14:creationId xmlns:p14="http://schemas.microsoft.com/office/powerpoint/2010/main" val="2308246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1817</TotalTime>
  <Words>1230</Words>
  <Application>Microsoft Office PowerPoint</Application>
  <PresentationFormat>Widescreen</PresentationFormat>
  <Paragraphs>429</Paragraphs>
  <Slides>34</Slides>
  <Notes>34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Calibri</vt:lpstr>
      <vt:lpstr>Calibri Light</vt:lpstr>
      <vt:lpstr>Calibri Light (Headings)</vt:lpstr>
      <vt:lpstr>inherit</vt:lpstr>
      <vt:lpstr>Metropolis</vt:lpstr>
      <vt:lpstr>Wingdings</vt:lpstr>
      <vt:lpstr>Office Theme</vt:lpstr>
      <vt:lpstr>The Number System</vt:lpstr>
      <vt:lpstr>Outline</vt:lpstr>
      <vt:lpstr>Representing Information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391</cp:revision>
  <dcterms:created xsi:type="dcterms:W3CDTF">2022-05-11T03:47:05Z</dcterms:created>
  <dcterms:modified xsi:type="dcterms:W3CDTF">2026-09-24T23:09:31Z</dcterms:modified>
</cp:coreProperties>
</file>